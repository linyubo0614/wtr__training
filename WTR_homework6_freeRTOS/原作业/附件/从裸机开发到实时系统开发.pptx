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58" r:id="rId5"/>
    <p:sldId id="260" r:id="rId6"/>
    <p:sldId id="261" r:id="rId7"/>
    <p:sldId id="265" r:id="rId8"/>
    <p:sldId id="271" r:id="rId9"/>
    <p:sldId id="266" r:id="rId10"/>
    <p:sldId id="267" r:id="rId11"/>
    <p:sldId id="272" r:id="rId12"/>
    <p:sldId id="270" r:id="rId13"/>
    <p:sldId id="276" r:id="rId14"/>
    <p:sldId id="277" r:id="rId15"/>
    <p:sldId id="273" r:id="rId16"/>
    <p:sldId id="274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78" r:id="rId26"/>
    <p:sldId id="280" r:id="rId27"/>
    <p:sldId id="279" r:id="rId28"/>
    <p:sldId id="281" r:id="rId29"/>
    <p:sldId id="282" r:id="rId30"/>
    <p:sldId id="284" r:id="rId31"/>
    <p:sldId id="285" r:id="rId32"/>
    <p:sldId id="294" r:id="rId33"/>
    <p:sldId id="295" r:id="rId34"/>
    <p:sldId id="296" r:id="rId35"/>
    <p:sldId id="298" r:id="rId36"/>
    <p:sldId id="297" r:id="rId37"/>
    <p:sldId id="302" r:id="rId38"/>
    <p:sldId id="303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8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43:0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1054.838 8175.612 545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43:0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1054.838 8175.612 767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55:1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8258.838 7967.612 767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50:3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4899.838 2067.612 255,'6.860'0.000'204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50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6162.838 2178.612 255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50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6162.838 2178.612 767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50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7564.838 2220.612 255,'-5.258'4.167'508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50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7564.838 2220.612 767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50:5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8772.838 3775.612 255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0:52:3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9508.838 6024.612 255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11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4788.838 9119.612 767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15:0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16351.838 8564.612 767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16:2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8342.838 3594.612 255,'6.051'-6.517'109,"-1.424"1.535"156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18:5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8939.838 4955.612 255,'6.664'4.030'512,"2.435"1.916"-518,-3.121-1.977 4,-0.640-0.401 1,2.670 1.828-3,-2.195-1.433 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18:5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8939.838 4955.612 767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19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8508.838 2123.612 255,'0.000'7.990'238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21:5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2428.838 8592.612 255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21:5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2650.838 8564.612 255,'6.064'0.000'184,"0.521"-0.371"85,-0.421-4.057-214,-0.127-1.080-57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21:5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1789.838 9314.612 255,'-7.133'0.000'359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24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3205.838 4011.612 255,'-6.230'4.597'512,"-0.697"-0.974"-512,0.302-0.569-7,0.789-0.630 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24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3205.838 4011.612 767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24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3205.838 3983.612 255,'-6.133'0.000'253,"0.257"1.879"-63,3.906 4.328-125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24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3344.838 4011.612 255,'-6.328'0.000'276,"5.792"-6.517"-43,4.569 1.535-234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24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3344.838 4011.612 767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24:5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5010.838 4094.612 255,'-6.290'0.000'276,"12.458"-9.580"-44,0.558 1.601-236,-2.215 2.155 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34:5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2470.838 4871.612 255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54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8758.838 4913.612 255,'7.658'0.000'192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54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8758.838 4913.612 767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31:1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2511.838 3067.612 767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36:5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4649.838 8439.612 255,'-5.631'5.632'512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41:0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2761.838 6218.612 255,'5.710'5.710'512,"-0.584"-0.584"-512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41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4996.838 4913.612 255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43:5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7550.838 6565.612 255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43:5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9744.838 6551.612 255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45:5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8161.838 5288.612 255,'-7.334'0.000'213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52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9050.838 6773.612 255,'5.595'-4.132'318,"0.679"0.118"-207,1.489-0.680-35,2.309-1.045-79,-1.954 0.061 1,-0.334-0.578 1,-1.381 0.322 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1:57:0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13492.838 463.838 255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1:0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4108.838 5635.612 258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1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3913.838 5468.612 767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1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16560.838 6954.612 255,'0.000'-6.791'336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1:3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18114.838 7051.612 255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2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9397.838 4261.612 255,'0.000'-6.674'512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5:4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6842.838 8925.612 255,'6.903'-2.230'512,"1.295"-1.961"-518,-1.601 0.540 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5:4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6842.838 8925.612 767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5:4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6815.838 8994.612 255,'-4.538'5.199'190,"11.642"-3.992"128,6.861-5.742-320,-2.979 0.532-2,-1.227 0.618 2,3.403-0.848-2,1.358-0.061 1,4.036-1.131-2,-3.603 1.293 0,13.113-2.587 1,-10.504 2.533 1,0.472-0.010 0,0.263 0.103 0,6.924-1.028 3,6.394-0.529-3,-6.502 1.705 0,-0.653 0.594 3,-7.025 1.166-2,3.723-0.171 2,-4.295 0.685 1,-1.590 0.351 2,-3.831 0.417-1,0.315 0.060-2,-2.850 1.284 37,-14.821 6.772-35,-0.826-4.962-2,-6.304 1.406-3,-3.594 0.293-2,-7.964 1.024-3,3.203-0.556 2,4.857-1.044 2,-2.937 0.502-1,0.315-0.182 2,3.074-1.098 0,-4.135-0.053 0,1.826-0.771 3,0.777-0.547 0,9.496-1.097-1,2.057-0.879 37,11.190-8.500-35,7.439 2.500 2,1.495 0.134-6,-0.382 0.684-2,-1.471 0.948 1,-1.993 1.023 0,-2.123 0.974 2,-2.009 0.855 0,0.039 0.134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6:4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11409.838 5857.612 255,'-6.519'0.000'512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6:4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5801.838 4399.612 255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6:4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5801.838 4399.612 767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7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7203.838 10077.612 255,'-6.183'0.000'512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7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7203.838 10077.612 767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9-28T22:07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7287.838 10091.612 255,'0.000'-7.989'220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6.xml"/><Relationship Id="rId7" Type="http://schemas.openxmlformats.org/officeDocument/2006/relationships/image" Target="../media/image13.png"/><Relationship Id="rId6" Type="http://schemas.openxmlformats.org/officeDocument/2006/relationships/customXml" Target="../ink/ink5.xml"/><Relationship Id="rId5" Type="http://schemas.openxmlformats.org/officeDocument/2006/relationships/image" Target="../media/image12.png"/><Relationship Id="rId4" Type="http://schemas.openxmlformats.org/officeDocument/2006/relationships/customXml" Target="../ink/ink4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5" Type="http://schemas.openxmlformats.org/officeDocument/2006/relationships/slideLayout" Target="../slideLayouts/slideLayout2.xml"/><Relationship Id="rId14" Type="http://schemas.openxmlformats.org/officeDocument/2006/relationships/customXml" Target="../ink/ink10.xml"/><Relationship Id="rId13" Type="http://schemas.openxmlformats.org/officeDocument/2006/relationships/customXml" Target="../ink/ink9.xml"/><Relationship Id="rId12" Type="http://schemas.openxmlformats.org/officeDocument/2006/relationships/customXml" Target="../ink/ink8.xml"/><Relationship Id="rId11" Type="http://schemas.openxmlformats.org/officeDocument/2006/relationships/image" Target="../media/image14.png"/><Relationship Id="rId10" Type="http://schemas.openxmlformats.org/officeDocument/2006/relationships/customXml" Target="../ink/ink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customXml" Target="../ink/ink11.xml"/><Relationship Id="rId2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customXml" Target="../ink/ink1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customXml" Target="../ink/ink16.xml"/><Relationship Id="rId7" Type="http://schemas.openxmlformats.org/officeDocument/2006/relationships/image" Target="../media/image7.png"/><Relationship Id="rId6" Type="http://schemas.openxmlformats.org/officeDocument/2006/relationships/customXml" Target="../ink/ink15.xml"/><Relationship Id="rId5" Type="http://schemas.openxmlformats.org/officeDocument/2006/relationships/image" Target="../media/image20.png"/><Relationship Id="rId4" Type="http://schemas.openxmlformats.org/officeDocument/2006/relationships/customXml" Target="../ink/ink14.xml"/><Relationship Id="rId3" Type="http://schemas.openxmlformats.org/officeDocument/2006/relationships/image" Target="../media/image19.png"/><Relationship Id="rId2" Type="http://schemas.openxmlformats.org/officeDocument/2006/relationships/customXml" Target="../ink/ink1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5.png"/><Relationship Id="rId7" Type="http://schemas.openxmlformats.org/officeDocument/2006/relationships/customXml" Target="../ink/ink19.xml"/><Relationship Id="rId6" Type="http://schemas.openxmlformats.org/officeDocument/2006/relationships/image" Target="../media/image24.png"/><Relationship Id="rId5" Type="http://schemas.openxmlformats.org/officeDocument/2006/relationships/customXml" Target="../ink/ink18.xml"/><Relationship Id="rId4" Type="http://schemas.openxmlformats.org/officeDocument/2006/relationships/image" Target="../media/image13.png"/><Relationship Id="rId3" Type="http://schemas.openxmlformats.org/officeDocument/2006/relationships/customXml" Target="../ink/ink17.xml"/><Relationship Id="rId2" Type="http://schemas.openxmlformats.org/officeDocument/2006/relationships/image" Target="../media/image23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customXml" Target="../ink/ink23.xml"/><Relationship Id="rId8" Type="http://schemas.openxmlformats.org/officeDocument/2006/relationships/image" Target="../media/image27.png"/><Relationship Id="rId7" Type="http://schemas.openxmlformats.org/officeDocument/2006/relationships/customXml" Target="../ink/ink22.xml"/><Relationship Id="rId6" Type="http://schemas.openxmlformats.org/officeDocument/2006/relationships/image" Target="../media/image7.png"/><Relationship Id="rId5" Type="http://schemas.openxmlformats.org/officeDocument/2006/relationships/customXml" Target="../ink/ink21.xml"/><Relationship Id="rId4" Type="http://schemas.openxmlformats.org/officeDocument/2006/relationships/image" Target="../media/image26.png"/><Relationship Id="rId3" Type="http://schemas.openxmlformats.org/officeDocument/2006/relationships/customXml" Target="../ink/ink20.xml"/><Relationship Id="rId2" Type="http://schemas.openxmlformats.org/officeDocument/2006/relationships/image" Target="../media/image23.png"/><Relationship Id="rId12" Type="http://schemas.openxmlformats.org/officeDocument/2006/relationships/slideLayout" Target="../slideLayouts/slideLayout2.xml"/><Relationship Id="rId11" Type="http://schemas.openxmlformats.org/officeDocument/2006/relationships/customXml" Target="../ink/ink24.xml"/><Relationship Id="rId10" Type="http://schemas.openxmlformats.org/officeDocument/2006/relationships/image" Target="../media/image28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26.xml"/><Relationship Id="rId3" Type="http://schemas.openxmlformats.org/officeDocument/2006/relationships/image" Target="../media/image29.png"/><Relationship Id="rId2" Type="http://schemas.openxmlformats.org/officeDocument/2006/relationships/customXml" Target="../ink/ink25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8.xml"/><Relationship Id="rId4" Type="http://schemas.openxmlformats.org/officeDocument/2006/relationships/image" Target="../media/image31.png"/><Relationship Id="rId3" Type="http://schemas.openxmlformats.org/officeDocument/2006/relationships/customXml" Target="../ink/ink27.xml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customXml" Target="../ink/ink29.xml"/><Relationship Id="rId2" Type="http://schemas.openxmlformats.org/officeDocument/2006/relationships/image" Target="../media/image33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customXml" Target="../ink/ink30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customXml" Target="../ink/ink34.xml"/><Relationship Id="rId7" Type="http://schemas.openxmlformats.org/officeDocument/2006/relationships/customXml" Target="../ink/ink33.xml"/><Relationship Id="rId6" Type="http://schemas.openxmlformats.org/officeDocument/2006/relationships/image" Target="../media/image13.png"/><Relationship Id="rId5" Type="http://schemas.openxmlformats.org/officeDocument/2006/relationships/customXml" Target="../ink/ink32.xml"/><Relationship Id="rId4" Type="http://schemas.openxmlformats.org/officeDocument/2006/relationships/image" Target="../media/image37.png"/><Relationship Id="rId3" Type="http://schemas.openxmlformats.org/officeDocument/2006/relationships/customXml" Target="../ink/ink31.xml"/><Relationship Id="rId2" Type="http://schemas.openxmlformats.org/officeDocument/2006/relationships/image" Target="../media/image36.png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customXml" Target="../ink/ink35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png"/><Relationship Id="rId3" Type="http://schemas.openxmlformats.org/officeDocument/2006/relationships/customXml" Target="../ink/ink36.xml"/><Relationship Id="rId2" Type="http://schemas.openxmlformats.org/officeDocument/2006/relationships/image" Target="../media/image42.png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customXml" Target="../ink/ink37.xml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customXml" Target="../ink/ink41.xml"/><Relationship Id="rId8" Type="http://schemas.openxmlformats.org/officeDocument/2006/relationships/image" Target="../media/image47.png"/><Relationship Id="rId7" Type="http://schemas.openxmlformats.org/officeDocument/2006/relationships/customXml" Target="../ink/ink40.xml"/><Relationship Id="rId6" Type="http://schemas.openxmlformats.org/officeDocument/2006/relationships/image" Target="../media/image7.png"/><Relationship Id="rId5" Type="http://schemas.openxmlformats.org/officeDocument/2006/relationships/customXml" Target="../ink/ink39.xml"/><Relationship Id="rId4" Type="http://schemas.openxmlformats.org/officeDocument/2006/relationships/image" Target="../media/image46.png"/><Relationship Id="rId3" Type="http://schemas.openxmlformats.org/officeDocument/2006/relationships/customXml" Target="../ink/ink38.xml"/><Relationship Id="rId2" Type="http://schemas.openxmlformats.org/officeDocument/2006/relationships/image" Target="../media/image4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customXml" Target="../ink/ink4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customXml" Target="../ink/ink45.xml"/><Relationship Id="rId7" Type="http://schemas.openxmlformats.org/officeDocument/2006/relationships/image" Target="../media/image7.png"/><Relationship Id="rId6" Type="http://schemas.openxmlformats.org/officeDocument/2006/relationships/customXml" Target="../ink/ink44.xml"/><Relationship Id="rId5" Type="http://schemas.openxmlformats.org/officeDocument/2006/relationships/image" Target="../media/image52.png"/><Relationship Id="rId4" Type="http://schemas.openxmlformats.org/officeDocument/2006/relationships/customXml" Target="../ink/ink43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customXml" Target="../ink/ink49.xml"/><Relationship Id="rId8" Type="http://schemas.openxmlformats.org/officeDocument/2006/relationships/image" Target="../media/image7.png"/><Relationship Id="rId7" Type="http://schemas.openxmlformats.org/officeDocument/2006/relationships/customXml" Target="../ink/ink48.xml"/><Relationship Id="rId6" Type="http://schemas.openxmlformats.org/officeDocument/2006/relationships/image" Target="../media/image13.png"/><Relationship Id="rId5" Type="http://schemas.openxmlformats.org/officeDocument/2006/relationships/customXml" Target="../ink/ink47.xml"/><Relationship Id="rId4" Type="http://schemas.openxmlformats.org/officeDocument/2006/relationships/image" Target="../media/image55.png"/><Relationship Id="rId3" Type="http://schemas.openxmlformats.org/officeDocument/2006/relationships/customXml" Target="../ink/ink46.xml"/><Relationship Id="rId2" Type="http://schemas.openxmlformats.org/officeDocument/2006/relationships/image" Target="../media/image54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7.png"/><Relationship Id="rId12" Type="http://schemas.openxmlformats.org/officeDocument/2006/relationships/customXml" Target="../ink/ink51.xml"/><Relationship Id="rId11" Type="http://schemas.openxmlformats.org/officeDocument/2006/relationships/customXml" Target="../ink/ink50.xml"/><Relationship Id="rId10" Type="http://schemas.openxmlformats.org/officeDocument/2006/relationships/image" Target="../media/image56.png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87033"/>
            <a:ext cx="9144000" cy="2387600"/>
          </a:xfrm>
        </p:spPr>
        <p:txBody>
          <a:bodyPr/>
          <a:p>
            <a:r>
              <a:rPr lang="zh-CN" altLang="en-US" sz="5400"/>
              <a:t>从裸机到实时操作系统</a:t>
            </a:r>
            <a:endParaRPr lang="zh-CN" altLang="en-US" sz="5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72038"/>
            <a:ext cx="9144000" cy="1655762"/>
          </a:xfrm>
        </p:spPr>
        <p:txBody>
          <a:bodyPr/>
          <a:p>
            <a:r>
              <a:rPr lang="zh-CN" altLang="en-US" sz="2000"/>
              <a:t>主讲人：司想</a:t>
            </a:r>
            <a:endParaRPr lang="zh-CN" altLang="en-US" sz="2000"/>
          </a:p>
        </p:txBody>
      </p:sp>
      <p:grpSp>
        <p:nvGrpSpPr>
          <p:cNvPr id="4" name="组合 3"/>
          <p:cNvGrpSpPr/>
          <p:nvPr/>
        </p:nvGrpSpPr>
        <p:grpSpPr>
          <a:xfrm>
            <a:off x="233046" y="1656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55955" y="330835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目录</a:t>
            </a:r>
            <a:endParaRPr lang="zh-CN" altLang="en-US" sz="2400">
              <a:sym typeface="+mn-ea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732915" y="1475105"/>
            <a:ext cx="459105" cy="4126865"/>
          </a:xfrm>
          <a:prstGeom prst="leftBrace">
            <a:avLst/>
          </a:prstGeom>
          <a:ln w="28575" cmpd="sng">
            <a:solidFill>
              <a:schemeClr val="tx1">
                <a:alpha val="99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54605" y="125984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裸机</a:t>
            </a:r>
            <a:endParaRPr lang="zh-CN" altLang="en-US" sz="2400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54605" y="222186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RTOS</a:t>
            </a:r>
            <a:endParaRPr lang="en-US" altLang="zh-CN" sz="2400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54605" y="31838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FreeRTOS</a:t>
            </a:r>
            <a:endParaRPr lang="en-US" altLang="zh-CN" sz="240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554605" y="414591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CMSIS-</a:t>
            </a:r>
            <a:r>
              <a:rPr lang="en-US" altLang="zh-CN" sz="2400">
                <a:sym typeface="+mn-ea"/>
              </a:rPr>
              <a:t>RTOS</a:t>
            </a:r>
            <a:endParaRPr lang="en-US" altLang="zh-CN" sz="2400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54605" y="535686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作业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0265" y="170180"/>
            <a:ext cx="10525125" cy="1325880"/>
          </a:xfrm>
        </p:spPr>
        <p:txBody>
          <a:bodyPr/>
          <a:p>
            <a:r>
              <a:rPr lang="zh-CN" altLang="en-US" sz="4000"/>
              <a:t>裸机</a:t>
            </a:r>
            <a:endParaRPr lang="zh-CN" altLang="en-US" sz="4000"/>
          </a:p>
        </p:txBody>
      </p:sp>
      <p:pic>
        <p:nvPicPr>
          <p:cNvPr id="14" name="内容占位符 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4040" y="1726565"/>
            <a:ext cx="4972050" cy="460629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192020" y="2896235"/>
            <a:ext cx="3260090" cy="1683385"/>
          </a:xfrm>
          <a:prstGeom prst="rect">
            <a:avLst/>
          </a:prstGeom>
          <a:noFill/>
          <a:ln w="22225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192020" y="4579620"/>
            <a:ext cx="2147570" cy="251460"/>
          </a:xfrm>
          <a:prstGeom prst="rect">
            <a:avLst/>
          </a:prstGeom>
          <a:noFill/>
          <a:ln w="22225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>
            <p:custDataLst>
              <p:tags r:id="rId3"/>
            </p:custDataLst>
          </p:nvPr>
        </p:nvSpPr>
        <p:spPr>
          <a:xfrm>
            <a:off x="5546090" y="3491230"/>
            <a:ext cx="388620" cy="213360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5993130" y="342900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Cub</a:t>
            </a:r>
            <a:r>
              <a:rPr lang="en-US" altLang="zh-CN" sz="1600"/>
              <a:t>eMX</a:t>
            </a:r>
            <a:r>
              <a:rPr lang="zh-CN" altLang="en-US" sz="1600"/>
              <a:t>中配置的</a:t>
            </a:r>
            <a:r>
              <a:rPr lang="zh-CN" altLang="en-US" sz="1600"/>
              <a:t>外设参数写入</a:t>
            </a:r>
            <a:endParaRPr lang="zh-CN" altLang="en-US" sz="1600"/>
          </a:p>
        </p:txBody>
      </p:sp>
      <p:sp>
        <p:nvSpPr>
          <p:cNvPr id="20" name="右箭头 19"/>
          <p:cNvSpPr/>
          <p:nvPr>
            <p:custDataLst>
              <p:tags r:id="rId5"/>
            </p:custDataLst>
          </p:nvPr>
        </p:nvSpPr>
        <p:spPr>
          <a:xfrm>
            <a:off x="5546090" y="4617720"/>
            <a:ext cx="388620" cy="213360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5993130" y="457962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CubeMX</a:t>
            </a:r>
            <a:r>
              <a:rPr lang="zh-CN" altLang="en-US" sz="1600"/>
              <a:t>中配置的外设</a:t>
            </a:r>
            <a:r>
              <a:rPr lang="zh-CN" altLang="en-US" sz="1600"/>
              <a:t>初始化</a:t>
            </a:r>
            <a:endParaRPr lang="zh-CN" altLang="en-US" sz="1600"/>
          </a:p>
        </p:txBody>
      </p:sp>
      <p:sp>
        <p:nvSpPr>
          <p:cNvPr id="23" name="矩形 22"/>
          <p:cNvSpPr/>
          <p:nvPr/>
        </p:nvSpPr>
        <p:spPr>
          <a:xfrm>
            <a:off x="2192020" y="4831080"/>
            <a:ext cx="2147570" cy="1287780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>
            <p:custDataLst>
              <p:tags r:id="rId7"/>
            </p:custDataLst>
          </p:nvPr>
        </p:nvSpPr>
        <p:spPr>
          <a:xfrm>
            <a:off x="5546090" y="5430520"/>
            <a:ext cx="388620" cy="21336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8"/>
            </p:custDataLst>
          </p:nvPr>
        </p:nvSpPr>
        <p:spPr>
          <a:xfrm>
            <a:off x="5993130" y="536829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抛开中断回调函数等，</a:t>
            </a:r>
            <a:r>
              <a:rPr lang="en-US" altLang="zh-CN" sz="1600"/>
              <a:t>99%</a:t>
            </a:r>
            <a:r>
              <a:rPr lang="zh-CN" altLang="en-US" sz="1600"/>
              <a:t>代码写在这</a:t>
            </a:r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0265" y="170180"/>
            <a:ext cx="10525125" cy="1325880"/>
          </a:xfrm>
        </p:spPr>
        <p:txBody>
          <a:bodyPr/>
          <a:p>
            <a:r>
              <a:rPr lang="zh-CN" altLang="en-US" sz="4000"/>
              <a:t>裸机</a:t>
            </a:r>
            <a:endParaRPr lang="zh-CN" altLang="en-US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" y="3160395"/>
            <a:ext cx="4522470" cy="215519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936625" y="2325370"/>
            <a:ext cx="49828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对于裸机同时实现两个任务</a:t>
            </a:r>
            <a:r>
              <a:rPr lang="zh-CN" altLang="en-US"/>
              <a:t>写法</a:t>
            </a:r>
            <a:endParaRPr lang="zh-CN" altLang="en-US"/>
          </a:p>
          <a:p>
            <a:r>
              <a:rPr lang="zh-CN" altLang="en-US" sz="1400"/>
              <a:t>通常这两个任务内不能放阻塞式延时函数，否则会互相</a:t>
            </a:r>
            <a:r>
              <a:rPr lang="zh-CN" altLang="en-US" sz="1400"/>
              <a:t>影响</a:t>
            </a:r>
            <a:endParaRPr lang="zh-CN" altLang="en-US" sz="14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370" y="1768475"/>
            <a:ext cx="2790190" cy="508952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516370" y="1343025"/>
            <a:ext cx="4064000" cy="47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两个任务一直在</a:t>
            </a:r>
            <a:r>
              <a:rPr lang="en-US" altLang="zh-CN"/>
              <a:t>while</a:t>
            </a:r>
            <a:r>
              <a:rPr lang="zh-CN" altLang="en-US"/>
              <a:t>中</a:t>
            </a:r>
            <a:r>
              <a:rPr lang="zh-CN" altLang="en-US">
                <a:solidFill>
                  <a:srgbClr val="FF0000"/>
                </a:solidFill>
              </a:rPr>
              <a:t>顺序</a:t>
            </a:r>
            <a:r>
              <a:rPr lang="zh-CN" altLang="en-US"/>
              <a:t>执行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0265" y="170180"/>
            <a:ext cx="10525125" cy="1325880"/>
          </a:xfrm>
        </p:spPr>
        <p:txBody>
          <a:bodyPr/>
          <a:p>
            <a:r>
              <a:rPr lang="zh-CN" altLang="en-US" sz="4000"/>
              <a:t>裸机</a:t>
            </a:r>
            <a:endParaRPr lang="zh-CN" altLang="en-US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08475" y="1343025"/>
            <a:ext cx="7724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当任务多起来</a:t>
            </a:r>
            <a:r>
              <a:rPr lang="zh-CN" altLang="en-US"/>
              <a:t>时？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" y="1988185"/>
            <a:ext cx="2600960" cy="404050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795395" y="2027555"/>
            <a:ext cx="76479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可行性：可行</a:t>
            </a:r>
            <a:endParaRPr lang="zh-CN" altLang="en-US">
              <a:sym typeface="+mn-ea"/>
            </a:endParaRPr>
          </a:p>
          <a:p>
            <a:pPr marL="457200" lvl="1" indent="457200"/>
            <a:r>
              <a:rPr lang="zh-CN" altLang="en-US">
                <a:sym typeface="+mn-ea"/>
              </a:rPr>
              <a:t>若不在</a:t>
            </a:r>
            <a:r>
              <a:rPr lang="en-US" altLang="zh-CN">
                <a:sym typeface="+mn-ea"/>
              </a:rPr>
              <a:t>Task</a:t>
            </a:r>
            <a:r>
              <a:rPr lang="zh-CN" altLang="en-US">
                <a:sym typeface="+mn-ea"/>
              </a:rPr>
              <a:t>里放一些阻塞等待或者</a:t>
            </a:r>
            <a:r>
              <a:rPr lang="en-US" altLang="zh-CN">
                <a:sym typeface="+mn-ea"/>
              </a:rPr>
              <a:t>Delay</a:t>
            </a:r>
            <a:r>
              <a:rPr lang="zh-CN" altLang="en-US">
                <a:sym typeface="+mn-ea"/>
              </a:rPr>
              <a:t>，整个系统可以正常</a:t>
            </a:r>
            <a:r>
              <a:rPr lang="zh-CN" altLang="en-US">
                <a:sym typeface="+mn-ea"/>
              </a:rPr>
              <a:t>运行</a:t>
            </a:r>
            <a:endParaRPr lang="zh-CN" altLang="en-US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96030" y="3060700"/>
            <a:ext cx="616267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缺点：</a:t>
            </a:r>
            <a:r>
              <a:rPr lang="en-US" altLang="zh-CN">
                <a:sym typeface="+mn-ea"/>
              </a:rPr>
              <a:t>	1</a:t>
            </a:r>
            <a:r>
              <a:rPr lang="zh-CN" altLang="en-US">
                <a:sym typeface="+mn-ea"/>
              </a:rPr>
              <a:t>、任务与任务间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耦合性</a:t>
            </a:r>
            <a:r>
              <a:rPr lang="zh-CN" altLang="en-US">
                <a:sym typeface="+mn-ea"/>
              </a:rPr>
              <a:t>太强，为了解决耦合可能</a:t>
            </a:r>
            <a:r>
              <a:rPr lang="en-US" altLang="zh-CN">
                <a:sym typeface="+mn-ea"/>
              </a:rPr>
              <a:t>	</a:t>
            </a:r>
            <a:r>
              <a:rPr lang="zh-CN" altLang="en-US">
                <a:sym typeface="+mn-ea"/>
              </a:rPr>
              <a:t>会在代码中各处插</a:t>
            </a:r>
            <a:r>
              <a:rPr lang="en-US" altLang="zh-CN">
                <a:sym typeface="+mn-ea"/>
              </a:rPr>
              <a:t>flag</a:t>
            </a:r>
            <a:r>
              <a:rPr lang="zh-CN" altLang="en-US">
                <a:sym typeface="+mn-ea"/>
              </a:rPr>
              <a:t>，影响可读</a:t>
            </a:r>
            <a:r>
              <a:rPr lang="zh-CN" altLang="en-US">
                <a:sym typeface="+mn-ea"/>
              </a:rPr>
              <a:t>性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Task</a:t>
            </a:r>
            <a:r>
              <a:rPr lang="zh-CN" altLang="en-US">
                <a:sym typeface="+mn-ea"/>
              </a:rPr>
              <a:t>之间的优先级是一样的，如果</a:t>
            </a:r>
            <a:r>
              <a:rPr lang="en-US" altLang="zh-CN">
                <a:sym typeface="+mn-ea"/>
              </a:rPr>
              <a:t>Task3</a:t>
            </a:r>
            <a:r>
              <a:rPr lang="zh-CN" altLang="en-US">
                <a:sym typeface="+mn-ea"/>
              </a:rPr>
              <a:t>是等待</a:t>
            </a:r>
            <a:r>
              <a:rPr lang="en-US" altLang="zh-CN">
                <a:sym typeface="+mn-ea"/>
              </a:rPr>
              <a:t>	</a:t>
            </a:r>
            <a:r>
              <a:rPr lang="zh-CN" altLang="en-US">
                <a:sym typeface="+mn-ea"/>
              </a:rPr>
              <a:t>某个中断触发再执行的比较紧急的任务，其在一</a:t>
            </a:r>
            <a:r>
              <a:rPr lang="zh-CN" altLang="en-US">
                <a:sym typeface="+mn-ea"/>
              </a:rPr>
              <a:t>轮</a:t>
            </a:r>
            <a:endParaRPr lang="zh-CN" altLang="en-US">
              <a:sym typeface="+mn-ea"/>
            </a:endParaRPr>
          </a:p>
          <a:p>
            <a:pPr marL="457200" lvl="1" indent="457200"/>
            <a:r>
              <a:rPr lang="zh-CN" altLang="en-US">
                <a:sym typeface="+mn-ea"/>
              </a:rPr>
              <a:t>循环中只能等待</a:t>
            </a:r>
            <a:r>
              <a:rPr lang="en-US" altLang="zh-CN">
                <a:sym typeface="+mn-ea"/>
              </a:rPr>
              <a:t>Task1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执行完再</a:t>
            </a:r>
            <a:r>
              <a:rPr lang="zh-CN" altLang="en-US">
                <a:sym typeface="+mn-ea"/>
              </a:rPr>
              <a:t>执行</a:t>
            </a:r>
            <a:endParaRPr lang="zh-CN" altLang="en-US">
              <a:sym typeface="+mn-ea"/>
            </a:endParaRPr>
          </a:p>
          <a:p>
            <a:pPr marL="457200" lvl="1" indent="457200"/>
            <a:endParaRPr lang="zh-CN" altLang="en-US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可维护性</a:t>
            </a:r>
            <a:r>
              <a:rPr lang="zh-CN" altLang="en-US">
                <a:sym typeface="+mn-ea"/>
              </a:rPr>
              <a:t>差，因为耦合性强，如果你对某单独</a:t>
            </a:r>
            <a:r>
              <a:rPr lang="en-US" altLang="zh-CN">
                <a:sym typeface="+mn-ea"/>
              </a:rPr>
              <a:t>	Task</a:t>
            </a:r>
            <a:r>
              <a:rPr lang="zh-CN" altLang="en-US">
                <a:sym typeface="+mn-ea"/>
              </a:rPr>
              <a:t>做出修改，可能会影响其他</a:t>
            </a:r>
            <a:r>
              <a:rPr lang="en-US" altLang="zh-CN">
                <a:sym typeface="+mn-ea"/>
              </a:rPr>
              <a:t>Task</a:t>
            </a:r>
            <a:r>
              <a:rPr lang="zh-CN" altLang="en-US">
                <a:sym typeface="+mn-ea"/>
              </a:rPr>
              <a:t>执行</a:t>
            </a:r>
            <a:endParaRPr lang="zh-CN" altLang="en-US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6" name="墨迹 15"/>
              <p14:cNvContentPartPr/>
              <p14:nvPr/>
            </p14:nvContentPartPr>
            <p14:xfrm>
              <a:off x="669925" y="5191760"/>
              <a:ext cx="635" cy="63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4"/>
            </p:blipFill>
            <p:spPr>
              <a:xfrm>
                <a:off x="669925" y="51917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7" name="墨迹 16"/>
              <p14:cNvContentPartPr/>
              <p14:nvPr/>
            </p14:nvContentPartPr>
            <p14:xfrm>
              <a:off x="669925" y="5191760"/>
              <a:ext cx="635" cy="63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6"/>
            </p:blipFill>
            <p:spPr>
              <a:xfrm>
                <a:off x="669925" y="519176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0265" y="170180"/>
            <a:ext cx="10525125" cy="1325880"/>
          </a:xfrm>
        </p:spPr>
        <p:txBody>
          <a:bodyPr/>
          <a:p>
            <a:r>
              <a:rPr lang="zh-CN" altLang="en-US" sz="4000"/>
              <a:t>裸机</a:t>
            </a:r>
            <a:endParaRPr lang="zh-CN" altLang="en-US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885565" y="117792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Soultion1 </a:t>
            </a:r>
            <a:r>
              <a:rPr lang="zh-CN" altLang="en-US" sz="2000">
                <a:sym typeface="+mn-ea"/>
              </a:rPr>
              <a:t>任务并行</a:t>
            </a:r>
            <a:r>
              <a:rPr lang="zh-CN" altLang="en-US" sz="2000">
                <a:sym typeface="+mn-ea"/>
              </a:rPr>
              <a:t>处理</a:t>
            </a:r>
            <a:endParaRPr lang="zh-CN" altLang="en-US" sz="2000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" y="1980565"/>
            <a:ext cx="2200275" cy="389191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472045" y="254698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ym typeface="+mn-ea"/>
              </a:rPr>
              <a:t>局限性：</a:t>
            </a:r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、多个任务之间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数据访问</a:t>
            </a:r>
            <a:r>
              <a:rPr lang="zh-CN" altLang="en-US" sz="2000">
                <a:sym typeface="+mn-ea"/>
              </a:rPr>
              <a:t>问题</a:t>
            </a:r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、单片机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核心数</a:t>
            </a:r>
            <a:r>
              <a:rPr lang="zh-CN" altLang="en-US" sz="2000">
                <a:sym typeface="+mn-ea"/>
              </a:rPr>
              <a:t>问题（</a:t>
            </a:r>
            <a:r>
              <a:rPr lang="zh-CN" altLang="en-US" sz="2000">
                <a:sym typeface="+mn-ea"/>
              </a:rPr>
              <a:t>×）</a:t>
            </a:r>
            <a:endParaRPr lang="zh-CN" altLang="en-US" sz="2000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72045" y="198056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ym typeface="+mn-ea"/>
              </a:rPr>
              <a:t>优点：任务间实现了较松的</a:t>
            </a:r>
            <a:r>
              <a:rPr lang="zh-CN" altLang="en-US" sz="2000">
                <a:sym typeface="+mn-ea"/>
              </a:rPr>
              <a:t>耦合</a:t>
            </a:r>
            <a:endParaRPr lang="zh-CN" altLang="en-US" sz="2000"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395" y="1980565"/>
            <a:ext cx="4438650" cy="389191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472045" y="3729355"/>
            <a:ext cx="465772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ym typeface="+mn-ea"/>
              </a:rPr>
              <a:t>总结：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因为单片机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核心数限制</a:t>
            </a:r>
            <a:r>
              <a:rPr lang="zh-CN" altLang="en-US" sz="2000">
                <a:sym typeface="+mn-ea"/>
              </a:rPr>
              <a:t>在对多机构控制时候不能做到真正的并行处理，我们比赛的控制实时性要求没有严苛到必须并行处理</a:t>
            </a:r>
            <a:endParaRPr lang="zh-CN" altLang="en-US" sz="2000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91" name="墨迹 190"/>
              <p14:cNvContentPartPr/>
              <p14:nvPr/>
            </p14:nvContentPartPr>
            <p14:xfrm>
              <a:off x="5244465" y="5059680"/>
              <a:ext cx="635" cy="635"/>
            </p14:xfrm>
          </p:contentPart>
        </mc:Choice>
        <mc:Fallback xmlns="">
          <p:pic>
            <p:nvPicPr>
              <p:cNvPr id="191" name="墨迹 190"/>
            </p:nvPicPr>
            <p:blipFill>
              <a:blip r:embed="rId5"/>
            </p:blipFill>
            <p:spPr>
              <a:xfrm>
                <a:off x="5244465" y="505968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8185" y="170180"/>
            <a:ext cx="10525125" cy="1325880"/>
          </a:xfrm>
        </p:spPr>
        <p:txBody>
          <a:bodyPr/>
          <a:p>
            <a:r>
              <a:rPr lang="en-US" altLang="zh-CN" sz="4000"/>
              <a:t>FreeRTOS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000885" y="1181735"/>
            <a:ext cx="8810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Free Real-Time Operating System</a:t>
            </a:r>
            <a:r>
              <a:rPr lang="en-US" altLang="zh-CN"/>
              <a:t>：</a:t>
            </a:r>
            <a:r>
              <a:rPr lang="zh-CN" altLang="en-US" sz="1600"/>
              <a:t>顾名思义，免费实时操作系统，帮我们实现</a:t>
            </a:r>
            <a:r>
              <a:rPr lang="en-US" altLang="zh-CN" sz="1600"/>
              <a:t>“</a:t>
            </a:r>
            <a:r>
              <a:rPr lang="zh-CN" altLang="en-US" sz="1600"/>
              <a:t>并行</a:t>
            </a:r>
            <a:r>
              <a:rPr lang="en-US" altLang="zh-CN" sz="1600"/>
              <a:t>”</a:t>
            </a:r>
            <a:endParaRPr lang="en-US" altLang="zh-CN" sz="16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1602105"/>
            <a:ext cx="5287010" cy="38658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75" y="1602105"/>
            <a:ext cx="5268595" cy="39922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6235" y="5853430"/>
            <a:ext cx="68656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如图所示，</a:t>
            </a:r>
            <a:r>
              <a:rPr lang="en-US" altLang="zh-CN">
                <a:sym typeface="+mn-ea"/>
              </a:rPr>
              <a:t>FreeRTOS</a:t>
            </a:r>
            <a:r>
              <a:rPr lang="zh-CN" altLang="en-US">
                <a:sym typeface="+mn-ea"/>
              </a:rPr>
              <a:t>构建了一个板级驱动与用户代码的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中间层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我们可以同时基于</a:t>
            </a:r>
            <a:r>
              <a:rPr lang="en-US" altLang="zh-CN">
                <a:sym typeface="+mn-ea"/>
              </a:rPr>
              <a:t>HAL</a:t>
            </a:r>
            <a:r>
              <a:rPr lang="zh-CN" altLang="en-US">
                <a:sym typeface="+mn-ea"/>
              </a:rPr>
              <a:t>库和</a:t>
            </a:r>
            <a:r>
              <a:rPr lang="en-US" altLang="zh-CN">
                <a:sym typeface="+mn-ea"/>
              </a:rPr>
              <a:t>FreeRTOS</a:t>
            </a:r>
            <a:r>
              <a:rPr lang="zh-CN" altLang="en-US">
                <a:sym typeface="+mn-ea"/>
              </a:rPr>
              <a:t>提供的函数构建</a:t>
            </a:r>
            <a:r>
              <a:rPr lang="zh-CN" altLang="en-US">
                <a:sym typeface="+mn-ea"/>
              </a:rPr>
              <a:t>代码</a:t>
            </a:r>
            <a:endParaRPr lang="zh-CN" altLang="en-US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3111500" y="1313180"/>
              <a:ext cx="5080" cy="63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3111500" y="1313180"/>
                <a:ext cx="508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30" name="墨迹 29"/>
              <p14:cNvContentPartPr/>
              <p14:nvPr/>
            </p14:nvContentPartPr>
            <p14:xfrm>
              <a:off x="3913505" y="1383665"/>
              <a:ext cx="635" cy="63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7"/>
            </p:blipFill>
            <p:spPr>
              <a:xfrm>
                <a:off x="3913505" y="138366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1" name="墨迹 30"/>
              <p14:cNvContentPartPr/>
              <p14:nvPr/>
            </p14:nvContentPartPr>
            <p14:xfrm>
              <a:off x="3913505" y="1383665"/>
              <a:ext cx="635" cy="63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9"/>
            </p:blipFill>
            <p:spPr>
              <a:xfrm>
                <a:off x="3913505" y="138366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2" name="墨迹 31"/>
              <p14:cNvContentPartPr/>
              <p14:nvPr/>
            </p14:nvContentPartPr>
            <p14:xfrm>
              <a:off x="4800600" y="1410335"/>
              <a:ext cx="3810" cy="317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11"/>
            </p:blipFill>
            <p:spPr>
              <a:xfrm>
                <a:off x="4800600" y="1410335"/>
                <a:ext cx="3810" cy="3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33" name="墨迹 32"/>
              <p14:cNvContentPartPr/>
              <p14:nvPr/>
            </p14:nvContentPartPr>
            <p14:xfrm>
              <a:off x="4803775" y="1410335"/>
              <a:ext cx="635" cy="63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9"/>
            </p:blipFill>
            <p:spPr>
              <a:xfrm>
                <a:off x="4803775" y="141033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50" name="墨迹 49"/>
              <p14:cNvContentPartPr/>
              <p14:nvPr/>
            </p14:nvContentPartPr>
            <p14:xfrm>
              <a:off x="5570855" y="2397760"/>
              <a:ext cx="635" cy="63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7"/>
            </p:blipFill>
            <p:spPr>
              <a:xfrm>
                <a:off x="5570855" y="23977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258" name="墨迹 257"/>
              <p14:cNvContentPartPr/>
              <p14:nvPr/>
            </p14:nvContentPartPr>
            <p14:xfrm>
              <a:off x="6038215" y="3825875"/>
              <a:ext cx="635" cy="635"/>
            </p14:xfrm>
          </p:contentPart>
        </mc:Choice>
        <mc:Fallback xmlns="">
          <p:pic>
            <p:nvPicPr>
              <p:cNvPr id="258" name="墨迹 257"/>
            </p:nvPicPr>
            <p:blipFill>
              <a:blip r:embed="rId7"/>
            </p:blipFill>
            <p:spPr>
              <a:xfrm>
                <a:off x="6038215" y="3825875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0265" y="170180"/>
            <a:ext cx="10525125" cy="1325880"/>
          </a:xfrm>
        </p:spPr>
        <p:txBody>
          <a:bodyPr/>
          <a:p>
            <a:r>
              <a:rPr lang="en-US" altLang="zh-CN" sz="4000"/>
              <a:t>RTOS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885565" y="117792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Soultion2 </a:t>
            </a:r>
            <a:r>
              <a:rPr lang="zh-CN" altLang="en-US" sz="2000">
                <a:sym typeface="+mn-ea"/>
              </a:rPr>
              <a:t>任务</a:t>
            </a:r>
            <a:r>
              <a:rPr lang="zh-CN" altLang="en-US" sz="2000">
                <a:sym typeface="+mn-ea"/>
              </a:rPr>
              <a:t>并</a:t>
            </a:r>
            <a:r>
              <a:rPr lang="zh-CN" altLang="en-US" sz="2000">
                <a:sym typeface="+mn-ea"/>
              </a:rPr>
              <a:t>发</a:t>
            </a:r>
            <a:r>
              <a:rPr lang="zh-CN" altLang="en-US" sz="2000">
                <a:sym typeface="+mn-ea"/>
              </a:rPr>
              <a:t>处理</a:t>
            </a:r>
            <a:endParaRPr lang="zh-CN" altLang="en-US" sz="2000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7080" y="302831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ym typeface="+mn-ea"/>
              </a:rPr>
              <a:t>区别</a:t>
            </a:r>
            <a:endParaRPr lang="zh-CN" altLang="en-US" sz="2000">
              <a:sym typeface="+mn-ea"/>
            </a:endParaRPr>
          </a:p>
        </p:txBody>
      </p:sp>
      <p:sp>
        <p:nvSpPr>
          <p:cNvPr id="21" name="左大括号 20"/>
          <p:cNvSpPr/>
          <p:nvPr/>
        </p:nvSpPr>
        <p:spPr>
          <a:xfrm>
            <a:off x="1598295" y="1908810"/>
            <a:ext cx="668655" cy="2637790"/>
          </a:xfrm>
          <a:prstGeom prst="leftBrac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311400" y="1670685"/>
            <a:ext cx="9244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ym typeface="+mn-ea"/>
              </a:rPr>
              <a:t>并行：微观上不同任务真正同时运行。如双核</a:t>
            </a:r>
            <a:r>
              <a:rPr lang="en-US" altLang="zh-CN" sz="2000">
                <a:sym typeface="+mn-ea"/>
              </a:rPr>
              <a:t>MCU</a:t>
            </a:r>
            <a:r>
              <a:rPr lang="zh-CN" altLang="en-US" sz="2000">
                <a:sym typeface="+mn-ea"/>
              </a:rPr>
              <a:t>，核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跑</a:t>
            </a:r>
            <a:r>
              <a:rPr lang="en-US" altLang="zh-CN" sz="2000">
                <a:sym typeface="+mn-ea"/>
              </a:rPr>
              <a:t>T</a:t>
            </a:r>
            <a:r>
              <a:rPr lang="en-US" altLang="zh-CN" sz="2000">
                <a:sym typeface="+mn-ea"/>
              </a:rPr>
              <a:t>ask1</a:t>
            </a:r>
            <a:r>
              <a:rPr lang="zh-CN" altLang="en-US" sz="2000">
                <a:sym typeface="+mn-ea"/>
              </a:rPr>
              <a:t>，核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跑</a:t>
            </a:r>
            <a:r>
              <a:rPr lang="en-US" altLang="zh-CN" sz="2000">
                <a:sym typeface="+mn-ea"/>
              </a:rPr>
              <a:t>T</a:t>
            </a:r>
            <a:r>
              <a:rPr lang="en-US" altLang="zh-CN" sz="2000">
                <a:sym typeface="+mn-ea"/>
              </a:rPr>
              <a:t>ask2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311400" y="4297045"/>
            <a:ext cx="97008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ym typeface="+mn-ea"/>
              </a:rPr>
              <a:t>并发：在一定时间内任务都执行了，但是微观上同一时刻只在执行某一</a:t>
            </a:r>
            <a:r>
              <a:rPr lang="zh-CN" altLang="en-US" sz="2000">
                <a:sym typeface="+mn-ea"/>
              </a:rPr>
              <a:t>任务。</a:t>
            </a:r>
            <a:endParaRPr lang="zh-CN" altLang="en-US" sz="2000"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890" y="2163445"/>
            <a:ext cx="6788785" cy="204851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645" y="4780915"/>
            <a:ext cx="7010400" cy="2087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8185" y="170180"/>
            <a:ext cx="10525125" cy="1325880"/>
          </a:xfrm>
        </p:spPr>
        <p:txBody>
          <a:bodyPr/>
          <a:p>
            <a:r>
              <a:rPr lang="en-US" altLang="zh-CN" sz="4000"/>
              <a:t>FreeRTOS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261995" y="1177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并行层面在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任务层</a:t>
            </a:r>
            <a:r>
              <a:rPr lang="zh-CN" altLang="en-US">
                <a:sym typeface="+mn-ea"/>
              </a:rPr>
              <a:t>，不会进行流水线式指令拆分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425065"/>
            <a:ext cx="9391650" cy="375031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896235" y="16916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FreeRTOS</a:t>
            </a:r>
            <a:r>
              <a:rPr lang="zh-CN" altLang="en-US">
                <a:sym typeface="+mn-ea"/>
              </a:rPr>
              <a:t>让不同任务在宏观层面上看起来像是同时进行，通过内核调度器给每个任务分配运行的</a:t>
            </a:r>
            <a:r>
              <a:rPr lang="zh-CN" altLang="en-US">
                <a:sym typeface="+mn-ea"/>
              </a:rPr>
              <a:t>时间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8185" y="170180"/>
            <a:ext cx="10525125" cy="1325880"/>
          </a:xfrm>
        </p:spPr>
        <p:txBody>
          <a:bodyPr/>
          <a:p>
            <a:r>
              <a:rPr lang="en-US" altLang="zh-CN" sz="4000"/>
              <a:t>FreeRTOS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824095" y="1177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任务切换</a:t>
            </a:r>
            <a:r>
              <a:rPr lang="zh-CN" altLang="en-US">
                <a:sym typeface="+mn-ea"/>
              </a:rPr>
              <a:t>机制</a:t>
            </a:r>
            <a:endParaRPr lang="zh-CN" altLang="en-US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17550" y="1676400"/>
            <a:ext cx="114039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任务切换：定时检查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事件驱动（双</a:t>
            </a:r>
            <a:r>
              <a:rPr lang="zh-CN" altLang="en-US">
                <a:sym typeface="+mn-ea"/>
              </a:rPr>
              <a:t>机制）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定时检查：每个时间片都会检查一次哪些任务就绪了，哪些任务需要</a:t>
            </a:r>
            <a:r>
              <a:rPr lang="zh-CN" altLang="en-US">
                <a:sym typeface="+mn-ea"/>
              </a:rPr>
              <a:t>切换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事件驱动：在特定函数执行时主动进行任务切换，如 </a:t>
            </a:r>
            <a:r>
              <a:rPr lang="en-US" altLang="zh-CN">
                <a:sym typeface="+mn-ea"/>
              </a:rPr>
              <a:t>xQueueSend()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xTaskNotifyGive()、taskYIELD()、vTaskDelay()</a:t>
            </a:r>
            <a:endParaRPr lang="zh-CN" altLang="en-US"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3263265"/>
            <a:ext cx="6276975" cy="33445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48" name="墨迹 547"/>
              <p14:cNvContentPartPr/>
              <p14:nvPr/>
            </p14:nvContentPartPr>
            <p14:xfrm>
              <a:off x="3041015" y="5791200"/>
              <a:ext cx="635" cy="635"/>
            </p14:xfrm>
          </p:contentPart>
        </mc:Choice>
        <mc:Fallback xmlns="">
          <p:pic>
            <p:nvPicPr>
              <p:cNvPr id="548" name="墨迹 547"/>
            </p:nvPicPr>
            <p:blipFill>
              <a:blip r:embed="rId4"/>
            </p:blipFill>
            <p:spPr>
              <a:xfrm>
                <a:off x="3041015" y="579120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8185" y="170180"/>
            <a:ext cx="10525125" cy="1325880"/>
          </a:xfrm>
        </p:spPr>
        <p:txBody>
          <a:bodyPr/>
          <a:p>
            <a:r>
              <a:rPr lang="en-US" altLang="zh-CN" sz="4000"/>
              <a:t>FreeRTOS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93970" y="1177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任务状态</a:t>
            </a:r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75055" y="184848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任务状态：参与进内核调度器调度的任务会有</a:t>
            </a:r>
            <a:r>
              <a:rPr lang="en-US" altLang="zh-CN" sz="160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种状态</a:t>
            </a:r>
            <a:endParaRPr lang="zh-CN" altLang="en-US" sz="1600">
              <a:solidFill>
                <a:srgbClr val="FF0000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3475" y="2487930"/>
            <a:ext cx="7841615" cy="25533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/>
              <a:t>就绪态</a:t>
            </a:r>
            <a:r>
              <a:rPr lang="zh-CN" altLang="en-US" sz="1600" b="0" i="0"/>
              <a:t>：</a:t>
            </a:r>
            <a:r>
              <a:rPr lang="en-US" altLang="zh-CN" sz="1600" b="0" i="0"/>
              <a:t>	</a:t>
            </a:r>
            <a:r>
              <a:rPr lang="zh-CN" altLang="en-US" sz="1600" b="0" i="0"/>
              <a:t>任务目前的状态可以被执行，只是MCU正在执行其他任务。</a:t>
            </a:r>
            <a:endParaRPr lang="zh-CN" altLang="en-US" sz="1600" b="0" i="0"/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1600" b="0" i="0"/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/>
              <a:t>运行态</a:t>
            </a:r>
            <a:r>
              <a:rPr lang="zh-CN" altLang="en-US" sz="1600" b="0" i="0"/>
              <a:t>：</a:t>
            </a:r>
            <a:r>
              <a:rPr lang="en-US" altLang="zh-CN" sz="1600" b="0" i="0"/>
              <a:t>	</a:t>
            </a:r>
            <a:r>
              <a:rPr lang="zh-CN" altLang="en-US" sz="1600" b="0" i="0"/>
              <a:t>在一个时刻只可能有一个任务处于运行态。</a:t>
            </a:r>
            <a:endParaRPr lang="zh-CN" altLang="en-US" sz="1600" b="0" i="0"/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1600" b="0" i="0"/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/>
              <a:t>挂起态</a:t>
            </a:r>
            <a:r>
              <a:rPr lang="zh-CN" altLang="en-US" sz="1600" b="0" i="0"/>
              <a:t>：代表任务被冻结了，不参与调度器的调度。除非人为唤醒。</a:t>
            </a:r>
            <a:endParaRPr lang="zh-CN" altLang="en-US" sz="1600" b="0" i="0"/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1600" b="0" i="0"/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/>
              <a:t>阻塞态</a:t>
            </a:r>
            <a:r>
              <a:rPr lang="zh-CN" altLang="en-US" sz="1600" b="0" i="0"/>
              <a:t>：表示任务正在等待某个事件或者时间条件，在条件满足之后任务会被加入就绪态。</a:t>
            </a:r>
            <a:endParaRPr lang="zh-CN" altLang="en-US" sz="1600" b="0" i="0"/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1600" b="0" i="0"/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/>
              <a:t>删除态</a:t>
            </a:r>
            <a:r>
              <a:rPr lang="zh-CN" altLang="en-US" sz="1600" b="0" i="0"/>
              <a:t>：任务已经终止，资源正在等待或已经被清理。</a:t>
            </a:r>
            <a:endParaRPr lang="zh-CN" altLang="en-US" sz="1600" b="0" i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8185" y="170180"/>
            <a:ext cx="10525125" cy="1325880"/>
          </a:xfrm>
        </p:spPr>
        <p:txBody>
          <a:bodyPr/>
          <a:p>
            <a:r>
              <a:rPr lang="en-US" altLang="zh-CN" sz="4000"/>
              <a:t>FreeRTOS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93970" y="1177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任务优先级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75055" y="184848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任务优先级：内核调度器会根据任务的优先级适当分配</a:t>
            </a:r>
            <a:r>
              <a:rPr lang="en-US" altLang="zh-CN" sz="1600">
                <a:sym typeface="+mn-ea"/>
              </a:rPr>
              <a:t>mcu</a:t>
            </a:r>
            <a:r>
              <a:rPr lang="zh-CN" altLang="en-US" sz="1600">
                <a:sym typeface="+mn-ea"/>
              </a:rPr>
              <a:t>资源</a:t>
            </a:r>
            <a:endParaRPr lang="zh-CN" altLang="en-US" sz="16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5055" y="2538095"/>
            <a:ext cx="9739630" cy="4053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sym typeface="+mn-ea"/>
              </a:rPr>
              <a:t>FreeRTOS</a:t>
            </a:r>
            <a:r>
              <a:rPr lang="zh-CN" altLang="en-US" sz="1600">
                <a:sym typeface="+mn-ea"/>
              </a:rPr>
              <a:t>的任务优先级可以多达</a:t>
            </a:r>
            <a:r>
              <a:rPr lang="en-US" altLang="zh-CN" sz="1600">
                <a:sym typeface="+mn-ea"/>
              </a:rPr>
              <a:t>50</a:t>
            </a:r>
            <a:r>
              <a:rPr lang="zh-CN" altLang="en-US" sz="1600">
                <a:sym typeface="+mn-ea"/>
              </a:rPr>
              <a:t>多种，与硬件中断相反的是，</a:t>
            </a:r>
            <a:r>
              <a:rPr lang="zh-CN" altLang="en-US" sz="1600" b="1">
                <a:sym typeface="+mn-ea"/>
              </a:rPr>
              <a:t>数字越大，优先级越高</a:t>
            </a:r>
            <a:endParaRPr lang="zh-CN" altLang="en-US" sz="1600" b="1">
              <a:sym typeface="+mn-ea"/>
            </a:endParaRPr>
          </a:p>
          <a:p>
            <a:endParaRPr lang="zh-CN" altLang="en-US" sz="1600" b="1">
              <a:sym typeface="+mn-ea"/>
            </a:endParaRPr>
          </a:p>
          <a:p>
            <a:r>
              <a:rPr lang="zh-CN" altLang="en-US" sz="1600">
                <a:sym typeface="+mn-ea"/>
              </a:rPr>
              <a:t>内核调度器在调度的时候遵循一下原则：</a:t>
            </a:r>
            <a:endParaRPr lang="zh-CN" altLang="en-US" sz="1600">
              <a:sym typeface="+mn-ea"/>
            </a:endParaRPr>
          </a:p>
          <a:p>
            <a:pPr indent="457200"/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	</a:t>
            </a:r>
            <a:r>
              <a:rPr lang="zh-CN" altLang="en-US" sz="1600">
                <a:sym typeface="+mn-ea"/>
              </a:rPr>
              <a:t>不同优先级</a:t>
            </a:r>
            <a:r>
              <a:rPr lang="en-US" altLang="zh-CN" sz="1600">
                <a:sym typeface="+mn-ea"/>
              </a:rPr>
              <a:t>——</a:t>
            </a:r>
            <a:r>
              <a:rPr lang="zh-CN" altLang="en-US" sz="1600">
                <a:sym typeface="+mn-ea"/>
              </a:rPr>
              <a:t>高优先级任务抢占低优先级</a:t>
            </a:r>
            <a:r>
              <a:rPr lang="zh-CN" altLang="en-US" sz="1600">
                <a:sym typeface="+mn-ea"/>
              </a:rPr>
              <a:t>任务</a:t>
            </a:r>
            <a:endParaRPr lang="zh-CN" altLang="en-US" sz="1600">
              <a:sym typeface="+mn-ea"/>
            </a:endParaRPr>
          </a:p>
          <a:p>
            <a:pPr marL="457200" lvl="1" indent="457200"/>
            <a:r>
              <a:rPr lang="zh-CN" altLang="en-US" sz="1600">
                <a:sym typeface="+mn-ea"/>
              </a:rPr>
              <a:t>若有优先级</a:t>
            </a:r>
            <a:r>
              <a:rPr lang="zh-CN" altLang="en-US" sz="1600" b="1">
                <a:sym typeface="+mn-ea"/>
              </a:rPr>
              <a:t>更高</a:t>
            </a:r>
            <a:r>
              <a:rPr lang="zh-CN" altLang="en-US" sz="1600">
                <a:sym typeface="+mn-ea"/>
              </a:rPr>
              <a:t>的任务加入了</a:t>
            </a:r>
            <a:r>
              <a:rPr lang="zh-CN" altLang="en-US" sz="1600" b="1">
                <a:sym typeface="+mn-ea"/>
              </a:rPr>
              <a:t>就绪态</a:t>
            </a:r>
            <a:r>
              <a:rPr lang="zh-CN" altLang="en-US" sz="1600">
                <a:sym typeface="+mn-ea"/>
              </a:rPr>
              <a:t>，则目前运行的任务会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立刻停止</a:t>
            </a:r>
            <a:r>
              <a:rPr lang="zh-CN" altLang="en-US" sz="1600">
                <a:sym typeface="+mn-ea"/>
              </a:rPr>
              <a:t>运行变为就绪态。相同优先</a:t>
            </a:r>
            <a:r>
              <a:rPr lang="en-US" altLang="zh-CN" sz="1600">
                <a:sym typeface="+mn-ea"/>
              </a:rPr>
              <a:t>	</a:t>
            </a:r>
            <a:r>
              <a:rPr lang="zh-CN" altLang="en-US" sz="1600">
                <a:sym typeface="+mn-ea"/>
              </a:rPr>
              <a:t>级的任务会在调度器的分配下分配时间片依次运行。如果高优先级的任务一直运行，那么处于</a:t>
            </a:r>
            <a:r>
              <a:rPr lang="zh-CN" altLang="en-US" sz="1600" b="1">
                <a:sym typeface="+mn-ea"/>
              </a:rPr>
              <a:t>就</a:t>
            </a:r>
            <a:r>
              <a:rPr lang="en-US" altLang="zh-CN" sz="1600" b="1">
                <a:sym typeface="+mn-ea"/>
              </a:rPr>
              <a:t>	</a:t>
            </a:r>
            <a:r>
              <a:rPr lang="zh-CN" altLang="en-US" sz="1600" b="1">
                <a:sym typeface="+mn-ea"/>
              </a:rPr>
              <a:t>绪态</a:t>
            </a:r>
            <a:r>
              <a:rPr lang="zh-CN" altLang="en-US" sz="1600">
                <a:sym typeface="+mn-ea"/>
              </a:rPr>
              <a:t>的低优先级的任务就会一直得不到运行</a:t>
            </a:r>
            <a:endParaRPr lang="zh-CN" altLang="en-US" sz="1600">
              <a:sym typeface="+mn-ea"/>
            </a:endParaRPr>
          </a:p>
          <a:p>
            <a:pPr marL="457200" lvl="1" indent="457200"/>
            <a:endParaRPr lang="zh-CN" altLang="en-US" sz="1600">
              <a:sym typeface="+mn-ea"/>
            </a:endParaRPr>
          </a:p>
          <a:p>
            <a:pPr marL="0" lvl="0" indent="457200">
              <a:buNone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	</a:t>
            </a:r>
            <a:r>
              <a:rPr lang="zh-CN" altLang="en-US" sz="1600">
                <a:sym typeface="+mn-ea"/>
              </a:rPr>
              <a:t>相同优先级</a:t>
            </a:r>
            <a:r>
              <a:rPr lang="en-US" altLang="zh-CN" sz="1600">
                <a:sym typeface="+mn-ea"/>
              </a:rPr>
              <a:t>——</a:t>
            </a:r>
            <a:r>
              <a:rPr lang="zh-CN" altLang="en-US" sz="1600">
                <a:sym typeface="+mn-ea"/>
              </a:rPr>
              <a:t>开启时间片</a:t>
            </a:r>
            <a:r>
              <a:rPr lang="zh-CN" altLang="en-US" sz="1600">
                <a:sym typeface="+mn-ea"/>
              </a:rPr>
              <a:t>轮转</a:t>
            </a:r>
            <a:endParaRPr lang="zh-CN" altLang="en-US" sz="1600">
              <a:sym typeface="+mn-ea"/>
            </a:endParaRPr>
          </a:p>
          <a:p>
            <a:pPr marL="457200" lvl="1" indent="457200">
              <a:buNone/>
            </a:pPr>
            <a:r>
              <a:rPr lang="zh-CN" altLang="en-US" sz="1600">
                <a:sym typeface="+mn-ea"/>
              </a:rPr>
              <a:t>相同优先级任务</a:t>
            </a:r>
            <a:r>
              <a:rPr lang="zh-CN" altLang="en-US" sz="1600" b="1">
                <a:sym typeface="+mn-ea"/>
              </a:rPr>
              <a:t>轮转</a:t>
            </a:r>
            <a:r>
              <a:rPr lang="zh-CN" altLang="en-US" sz="1600">
                <a:sym typeface="+mn-ea"/>
              </a:rPr>
              <a:t>使用一个时间片的</a:t>
            </a:r>
            <a:r>
              <a:rPr lang="en-US" altLang="zh-CN" sz="1600">
                <a:sym typeface="+mn-ea"/>
              </a:rPr>
              <a:t>mcu</a:t>
            </a:r>
            <a:r>
              <a:rPr lang="zh-CN" altLang="en-US" sz="1600">
                <a:sym typeface="+mn-ea"/>
              </a:rPr>
              <a:t>资源</a:t>
            </a:r>
            <a:endParaRPr lang="zh-CN" altLang="en-US" sz="1600">
              <a:sym typeface="+mn-ea"/>
            </a:endParaRPr>
          </a:p>
          <a:p>
            <a:pPr marL="457200" lvl="1" indent="457200">
              <a:buNone/>
            </a:pPr>
            <a:endParaRPr lang="zh-CN" altLang="en-US" sz="1600">
              <a:sym typeface="+mn-ea"/>
            </a:endParaRPr>
          </a:p>
          <a:p>
            <a:pPr marL="0" lvl="0" indent="457200">
              <a:buNone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	</a:t>
            </a:r>
            <a:r>
              <a:rPr lang="zh-CN" altLang="en-US" sz="1600">
                <a:sym typeface="+mn-ea"/>
              </a:rPr>
              <a:t>当前运行任务进入阻塞态时（如调用</a:t>
            </a:r>
            <a:r>
              <a:rPr lang="en-US" altLang="zh-CN" sz="1600">
                <a:sym typeface="+mn-ea"/>
              </a:rPr>
              <a:t>osDelay</a:t>
            </a:r>
            <a:r>
              <a:rPr lang="zh-CN" altLang="en-US" sz="1600">
                <a:sym typeface="+mn-ea"/>
              </a:rPr>
              <a:t>（）或其他阻塞式等待函数），会立刻切换到其他就</a:t>
            </a:r>
            <a:r>
              <a:rPr lang="en-US" altLang="zh-CN" sz="1600">
                <a:sym typeface="+mn-ea"/>
              </a:rPr>
              <a:t>	</a:t>
            </a:r>
            <a:r>
              <a:rPr lang="zh-CN" altLang="en-US" sz="1600">
                <a:sym typeface="+mn-ea"/>
              </a:rPr>
              <a:t>绪态的任务</a:t>
            </a:r>
            <a:r>
              <a:rPr lang="zh-CN" altLang="en-US" sz="1600">
                <a:sym typeface="+mn-ea"/>
              </a:rPr>
              <a:t>执行</a:t>
            </a:r>
            <a:endParaRPr lang="zh-CN" altLang="en-US" sz="1600">
              <a:sym typeface="+mn-ea"/>
            </a:endParaRPr>
          </a:p>
          <a:p>
            <a:pPr indent="457200"/>
            <a:endParaRPr lang="zh-CN" altLang="en-US" sz="1600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23" name="墨迹 322"/>
              <p14:cNvContentPartPr/>
              <p14:nvPr/>
            </p14:nvContentPartPr>
            <p14:xfrm>
              <a:off x="10383520" y="5438775"/>
              <a:ext cx="635" cy="635"/>
            </p14:xfrm>
          </p:contentPart>
        </mc:Choice>
        <mc:Fallback xmlns="">
          <p:pic>
            <p:nvPicPr>
              <p:cNvPr id="323" name="墨迹 322"/>
            </p:nvPicPr>
            <p:blipFill>
              <a:blip r:embed="rId3"/>
            </p:blipFill>
            <p:spPr>
              <a:xfrm>
                <a:off x="10383520" y="5438775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8185" y="170180"/>
            <a:ext cx="10525125" cy="1325880"/>
          </a:xfrm>
        </p:spPr>
        <p:txBody>
          <a:bodyPr/>
          <a:p>
            <a:r>
              <a:rPr lang="en-US" altLang="zh-CN" sz="4000"/>
              <a:t>FreeRTOS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44670" y="11785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工程中任务优先级分配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5055" y="2030095"/>
            <a:ext cx="9739630" cy="4053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/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、高优先级的任务一定要主动进入阻塞态，不然会饿死低优先级</a:t>
            </a:r>
            <a:r>
              <a:rPr lang="zh-CN" altLang="en-US" sz="1600">
                <a:sym typeface="+mn-ea"/>
              </a:rPr>
              <a:t>任务</a:t>
            </a:r>
            <a:endParaRPr lang="zh-CN" altLang="en-US" sz="1600">
              <a:sym typeface="+mn-ea"/>
            </a:endParaRPr>
          </a:p>
          <a:p>
            <a:pPr indent="457200"/>
            <a:endParaRPr lang="en-US" altLang="zh-CN" sz="1600">
              <a:sym typeface="+mn-ea"/>
            </a:endParaRPr>
          </a:p>
          <a:p>
            <a:pPr indent="457200"/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、一般</a:t>
            </a:r>
            <a:r>
              <a:rPr lang="zh-CN" altLang="en-US" sz="1600">
                <a:sym typeface="+mn-ea"/>
              </a:rPr>
              <a:t>不同任务用相同的优先级</a:t>
            </a:r>
            <a:r>
              <a:rPr lang="zh-CN" altLang="en-US" sz="1600">
                <a:sym typeface="+mn-ea"/>
              </a:rPr>
              <a:t>即可</a:t>
            </a:r>
            <a:endParaRPr lang="zh-CN" altLang="en-US" sz="1600">
              <a:sym typeface="+mn-ea"/>
            </a:endParaRPr>
          </a:p>
          <a:p>
            <a:pPr indent="457200"/>
            <a:endParaRPr lang="zh-CN" altLang="en-US" sz="1600">
              <a:sym typeface="+mn-ea"/>
            </a:endParaRPr>
          </a:p>
          <a:p>
            <a:pPr indent="457200"/>
            <a:r>
              <a:rPr lang="en-US" altLang="zh-CN" sz="1600">
                <a:sym typeface="+mn-ea"/>
              </a:rPr>
              <a:t>3</a:t>
            </a:r>
            <a:r>
              <a:rPr lang="zh-CN" altLang="en-US" sz="1600">
                <a:sym typeface="+mn-ea"/>
              </a:rPr>
              <a:t>、低优先级任务也要进入阻塞态，不然空闲任务得得不到执行会出现资源回收的</a:t>
            </a:r>
            <a:r>
              <a:rPr lang="zh-CN" altLang="en-US" sz="1600">
                <a:sym typeface="+mn-ea"/>
              </a:rPr>
              <a:t>问题</a:t>
            </a:r>
            <a:endParaRPr lang="zh-CN" altLang="en-US" sz="1600">
              <a:sym typeface="+mn-ea"/>
            </a:endParaRPr>
          </a:p>
          <a:p>
            <a:pPr indent="457200"/>
            <a:endParaRPr lang="zh-CN" altLang="en-US" sz="1600">
              <a:sym typeface="+mn-ea"/>
            </a:endParaRPr>
          </a:p>
          <a:p>
            <a:pPr indent="457200"/>
            <a:endParaRPr lang="zh-CN" altLang="en-US" sz="1600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5" name="墨迹 74"/>
              <p14:cNvContentPartPr/>
              <p14:nvPr/>
            </p14:nvContentPartPr>
            <p14:xfrm>
              <a:off x="5297805" y="2275840"/>
              <a:ext cx="7620" cy="7620"/>
            </p14:xfrm>
          </p:contentPart>
        </mc:Choice>
        <mc:Fallback xmlns="">
          <p:pic>
            <p:nvPicPr>
              <p:cNvPr id="75" name="墨迹 74"/>
            </p:nvPicPr>
            <p:blipFill>
              <a:blip r:embed="rId3"/>
            </p:blipFill>
            <p:spPr>
              <a:xfrm>
                <a:off x="5297805" y="2275840"/>
                <a:ext cx="7620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93" name="墨迹 192"/>
              <p14:cNvContentPartPr/>
              <p14:nvPr/>
            </p14:nvContentPartPr>
            <p14:xfrm>
              <a:off x="5676900" y="3147060"/>
              <a:ext cx="26670" cy="17780"/>
            </p14:xfrm>
          </p:contentPart>
        </mc:Choice>
        <mc:Fallback xmlns="">
          <p:pic>
            <p:nvPicPr>
              <p:cNvPr id="193" name="墨迹 192"/>
            </p:nvPicPr>
            <p:blipFill>
              <a:blip r:embed="rId5"/>
            </p:blipFill>
            <p:spPr>
              <a:xfrm>
                <a:off x="5676900" y="3147060"/>
                <a:ext cx="26670" cy="17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94" name="墨迹 193"/>
              <p14:cNvContentPartPr/>
              <p14:nvPr/>
            </p14:nvContentPartPr>
            <p14:xfrm>
              <a:off x="5676900" y="3147060"/>
              <a:ext cx="635" cy="635"/>
            </p14:xfrm>
          </p:contentPart>
        </mc:Choice>
        <mc:Fallback xmlns="">
          <p:pic>
            <p:nvPicPr>
              <p:cNvPr id="194" name="墨迹 193"/>
            </p:nvPicPr>
            <p:blipFill>
              <a:blip r:embed="rId7"/>
            </p:blipFill>
            <p:spPr>
              <a:xfrm>
                <a:off x="5676900" y="31470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06" name="墨迹 205"/>
              <p14:cNvContentPartPr/>
              <p14:nvPr/>
            </p14:nvContentPartPr>
            <p14:xfrm>
              <a:off x="5403215" y="1348740"/>
              <a:ext cx="635" cy="5715"/>
            </p14:xfrm>
          </p:contentPart>
        </mc:Choice>
        <mc:Fallback xmlns="">
          <p:pic>
            <p:nvPicPr>
              <p:cNvPr id="206" name="墨迹 205"/>
            </p:nvPicPr>
            <p:blipFill>
              <a:blip r:embed="rId9"/>
            </p:blipFill>
            <p:spPr>
              <a:xfrm>
                <a:off x="5403215" y="1348740"/>
                <a:ext cx="635" cy="571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6625" y="1343025"/>
            <a:ext cx="99072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基础概念：</a:t>
            </a:r>
            <a:r>
              <a:rPr lang="en-US" altLang="zh-CN" sz="1600" b="1">
                <a:sym typeface="+mn-ea"/>
              </a:rPr>
              <a:t>CMSIS-RTOS2</a:t>
            </a:r>
            <a:r>
              <a:rPr lang="zh-CN" altLang="en-US" sz="1600">
                <a:sym typeface="+mn-ea"/>
              </a:rPr>
              <a:t>是 </a:t>
            </a:r>
            <a:r>
              <a:rPr lang="en-US" altLang="zh-CN" sz="1600">
                <a:sym typeface="+mn-ea"/>
              </a:rPr>
              <a:t>ARM </a:t>
            </a:r>
            <a:r>
              <a:rPr lang="zh-CN" altLang="en-US" sz="1600">
                <a:sym typeface="+mn-ea"/>
              </a:rPr>
              <a:t>为 </a:t>
            </a:r>
            <a:r>
              <a:rPr lang="en-US" altLang="zh-CN" sz="1600">
                <a:sym typeface="+mn-ea"/>
              </a:rPr>
              <a:t>Cortex-M </a:t>
            </a:r>
            <a:r>
              <a:rPr lang="zh-CN" altLang="en-US" sz="1600">
                <a:sym typeface="+mn-ea"/>
              </a:rPr>
              <a:t>微控制器设计的第二代实时操作系统</a:t>
            </a:r>
            <a:r>
              <a:rPr lang="zh-CN" altLang="en-US" sz="1600" b="1">
                <a:sym typeface="+mn-ea"/>
              </a:rPr>
              <a:t>接口标准</a:t>
            </a:r>
            <a:r>
              <a:rPr lang="zh-CN" altLang="en-US" sz="1600">
                <a:sym typeface="+mn-ea"/>
              </a:rPr>
              <a:t>。它是 </a:t>
            </a:r>
            <a:r>
              <a:rPr lang="en-US" altLang="zh-CN" sz="1600">
                <a:sym typeface="+mn-ea"/>
              </a:rPr>
              <a:t>CMSIS（Cortex Microcontroller Software Interface Standard）</a:t>
            </a:r>
            <a:r>
              <a:rPr lang="zh-CN" altLang="en-US" sz="1600">
                <a:sym typeface="+mn-ea"/>
              </a:rPr>
              <a:t>生态系统的一部分，提供了一套</a:t>
            </a:r>
            <a:r>
              <a:rPr lang="zh-CN" altLang="en-US" sz="1600" b="1">
                <a:sym typeface="+mn-ea"/>
              </a:rPr>
              <a:t>标准化的 </a:t>
            </a:r>
            <a:r>
              <a:rPr lang="en-US" altLang="zh-CN" sz="1600" b="1">
                <a:sym typeface="+mn-ea"/>
              </a:rPr>
              <a:t>RTOS API</a:t>
            </a:r>
            <a:r>
              <a:rPr lang="en-US" altLang="zh-CN" sz="1600">
                <a:sym typeface="+mn-ea"/>
              </a:rPr>
              <a:t>，</a:t>
            </a:r>
            <a:r>
              <a:rPr lang="zh-CN" altLang="en-US" sz="1600">
                <a:sym typeface="+mn-ea"/>
              </a:rPr>
              <a:t>使应用程序能够在不同的 </a:t>
            </a:r>
            <a:r>
              <a:rPr lang="en-US" altLang="zh-CN" sz="1600">
                <a:sym typeface="+mn-ea"/>
              </a:rPr>
              <a:t>RTOS </a:t>
            </a:r>
            <a:r>
              <a:rPr lang="zh-CN" altLang="en-US" sz="1600">
                <a:sym typeface="+mn-ea"/>
              </a:rPr>
              <a:t>实现之间无缝移植。</a:t>
            </a:r>
            <a:r>
              <a:rPr lang="en-US" altLang="zh-CN" sz="1600">
                <a:sym typeface="+mn-ea"/>
              </a:rPr>
              <a:t>  </a:t>
            </a:r>
            <a:endParaRPr lang="en-US" altLang="zh-CN" sz="1600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85" y="2510155"/>
            <a:ext cx="5800090" cy="35998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809740" y="3026410"/>
            <a:ext cx="452945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STM32CubeMX</a:t>
            </a:r>
            <a:r>
              <a:rPr lang="zh-CN" altLang="en-US" sz="1600">
                <a:sym typeface="+mn-ea"/>
              </a:rPr>
              <a:t>为我们提供了接口选择，在战队开发时我们实际上用的是</a:t>
            </a:r>
            <a:r>
              <a:rPr lang="en-US" altLang="zh-CN" sz="1600">
                <a:sym typeface="+mn-ea"/>
              </a:rPr>
              <a:t>CMSIS-RTOS2</a:t>
            </a:r>
            <a:r>
              <a:rPr lang="zh-CN" altLang="en-US" sz="1600">
                <a:sym typeface="+mn-ea"/>
              </a:rPr>
              <a:t>的</a:t>
            </a:r>
            <a:r>
              <a:rPr lang="en-US" altLang="zh-CN" sz="1600">
                <a:sym typeface="+mn-ea"/>
              </a:rPr>
              <a:t>API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学习过程中集中学习</a:t>
            </a:r>
            <a:r>
              <a:rPr lang="en-US" altLang="zh-CN" sz="1600">
                <a:sym typeface="+mn-ea"/>
              </a:rPr>
              <a:t>CMSIS-RTOS2</a:t>
            </a:r>
            <a:r>
              <a:rPr lang="zh-CN" altLang="en-US" sz="1600">
                <a:sym typeface="+mn-ea"/>
              </a:rPr>
              <a:t>的</a:t>
            </a:r>
            <a:r>
              <a:rPr lang="en-US" altLang="zh-CN" sz="1600">
                <a:sym typeface="+mn-ea"/>
              </a:rPr>
              <a:t>API</a:t>
            </a:r>
            <a:r>
              <a:rPr lang="zh-CN" altLang="en-US" sz="1600">
                <a:sym typeface="+mn-ea"/>
              </a:rPr>
              <a:t>即可，但也要注意统一</a:t>
            </a:r>
            <a:r>
              <a:rPr lang="en-US" altLang="zh-CN" sz="1600">
                <a:sym typeface="+mn-ea"/>
              </a:rPr>
              <a:t>API</a:t>
            </a:r>
            <a:r>
              <a:rPr lang="zh-CN" altLang="en-US" sz="1600">
                <a:sym typeface="+mn-ea"/>
              </a:rPr>
              <a:t>有的功能实际上用</a:t>
            </a:r>
            <a:r>
              <a:rPr lang="en-US" altLang="zh-CN" sz="1600">
                <a:sym typeface="+mn-ea"/>
              </a:rPr>
              <a:t>FreeRTOS</a:t>
            </a:r>
            <a:r>
              <a:rPr lang="zh-CN" altLang="en-US" sz="1600">
                <a:sym typeface="+mn-ea"/>
              </a:rPr>
              <a:t>时是存在限制</a:t>
            </a:r>
            <a:r>
              <a:rPr lang="zh-CN" altLang="en-US" sz="1600">
                <a:sym typeface="+mn-ea"/>
              </a:rPr>
              <a:t>的。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660265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实际</a:t>
            </a:r>
            <a:r>
              <a:rPr lang="en-US" altLang="zh-CN" sz="1800"/>
              <a:t>RTOS</a:t>
            </a:r>
            <a:r>
              <a:rPr lang="zh-CN" altLang="en-US" sz="1800"/>
              <a:t>运行流程</a:t>
            </a:r>
            <a:endParaRPr lang="zh-CN" altLang="en-US" sz="18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1487170"/>
            <a:ext cx="4138930" cy="518287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243195" y="1675765"/>
            <a:ext cx="668528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与裸机启动不同的是：使用</a:t>
            </a:r>
            <a:r>
              <a:rPr lang="en-US" altLang="zh-CN">
                <a:sym typeface="+mn-ea"/>
              </a:rPr>
              <a:t>RTOS</a:t>
            </a:r>
            <a:r>
              <a:rPr lang="zh-CN" altLang="en-US">
                <a:sym typeface="+mn-ea"/>
              </a:rPr>
              <a:t>在初始化时初始化了</a:t>
            </a:r>
            <a:r>
              <a:rPr lang="en-US" altLang="zh-CN">
                <a:sym typeface="+mn-ea"/>
              </a:rPr>
              <a:t>kernel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FreeRTOS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kernel</a:t>
            </a:r>
            <a:r>
              <a:rPr lang="zh-CN" altLang="en-US">
                <a:sym typeface="+mn-ea"/>
              </a:rPr>
              <a:t>要求必须要至少有一个任务处于</a:t>
            </a:r>
            <a:r>
              <a:rPr lang="zh-CN" altLang="en-US">
                <a:sym typeface="+mn-ea"/>
              </a:rPr>
              <a:t>就绪态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在启动时osKernelStart（）函数就已经创建好了空闲任务。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while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）中的代码永远不会得到执行，因为当调度器启动后</a:t>
            </a:r>
            <a:r>
              <a:rPr lang="en-US" altLang="zh-CN">
                <a:sym typeface="+mn-ea"/>
              </a:rPr>
              <a:t>kernel</a:t>
            </a:r>
            <a:r>
              <a:rPr lang="zh-CN" altLang="en-US">
                <a:sym typeface="+mn-ea"/>
              </a:rPr>
              <a:t>会负责任务的运行分配</a:t>
            </a:r>
            <a:endParaRPr lang="en-US" altLang="zh-CN">
              <a:sym typeface="+mn-ea"/>
            </a:endParaRPr>
          </a:p>
          <a:p>
            <a:pPr indent="457200"/>
            <a:endParaRPr lang="en-US" altLang="zh-CN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4" name="墨迹 53"/>
              <p14:cNvContentPartPr/>
              <p14:nvPr/>
            </p14:nvContentPartPr>
            <p14:xfrm>
              <a:off x="1542415" y="5456555"/>
              <a:ext cx="635" cy="635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4"/>
            </p:blipFill>
            <p:spPr>
              <a:xfrm>
                <a:off x="1542415" y="545655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7" name="墨迹 56"/>
              <p14:cNvContentPartPr/>
              <p14:nvPr/>
            </p14:nvContentPartPr>
            <p14:xfrm>
              <a:off x="1683385" y="5432425"/>
              <a:ext cx="16510" cy="6985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6"/>
            </p:blipFill>
            <p:spPr>
              <a:xfrm>
                <a:off x="1683385" y="5432425"/>
                <a:ext cx="16510" cy="6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3" name="墨迹 62"/>
              <p14:cNvContentPartPr/>
              <p14:nvPr/>
            </p14:nvContentPartPr>
            <p14:xfrm>
              <a:off x="1132205" y="5915025"/>
              <a:ext cx="5080" cy="635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8"/>
            </p:blipFill>
            <p:spPr>
              <a:xfrm>
                <a:off x="1132205" y="5915025"/>
                <a:ext cx="5080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87172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os</a:t>
            </a:r>
            <a:r>
              <a:rPr lang="zh-CN" altLang="en-US" sz="1800"/>
              <a:t>函数与基本</a:t>
            </a:r>
            <a:r>
              <a:rPr lang="zh-CN" altLang="en-US" sz="1800"/>
              <a:t>概念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83385"/>
            <a:ext cx="108826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、内核控制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简介：一般不需要调用这类函数，</a:t>
            </a:r>
            <a:r>
              <a:rPr lang="en-US" altLang="zh-CN">
                <a:sym typeface="+mn-ea"/>
              </a:rPr>
              <a:t>CubeMX</a:t>
            </a:r>
            <a:r>
              <a:rPr lang="zh-CN" altLang="en-US">
                <a:sym typeface="+mn-ea"/>
              </a:rPr>
              <a:t>创建工程时已经写好了内核初始化函数和启动</a:t>
            </a:r>
            <a:r>
              <a:rPr lang="zh-CN" altLang="en-US">
                <a:sym typeface="+mn-ea"/>
              </a:rPr>
              <a:t>内核</a:t>
            </a:r>
            <a:endParaRPr lang="zh-CN" altLang="en-US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t="64784" r="-844" b="18911"/>
          <a:stretch>
            <a:fillRect/>
          </a:stretch>
        </p:blipFill>
        <p:spPr>
          <a:xfrm>
            <a:off x="1047750" y="2328545"/>
            <a:ext cx="4173855" cy="76263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047750" y="3178175"/>
            <a:ext cx="1080643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函数：</a:t>
            </a:r>
            <a:r>
              <a:rPr lang="en-US" altLang="zh-CN">
                <a:sym typeface="+mn-ea"/>
              </a:rPr>
              <a:t>	osKernelInitialize</a:t>
            </a:r>
            <a:r>
              <a:rPr lang="zh-CN" altLang="en-US">
                <a:sym typeface="+mn-ea"/>
              </a:rPr>
              <a:t>：内核初始化，配置好内核参数</a:t>
            </a:r>
            <a:endParaRPr lang="zh-CN" altLang="en-US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osKernelGetState</a:t>
            </a:r>
            <a:r>
              <a:rPr lang="zh-CN" altLang="en-US">
                <a:sym typeface="+mn-ea"/>
              </a:rPr>
              <a:t>：获取内核状态（内核启动后才可以</a:t>
            </a:r>
            <a:r>
              <a:rPr lang="zh-CN" altLang="en-US">
                <a:sym typeface="+mn-ea"/>
              </a:rPr>
              <a:t>调用）</a:t>
            </a:r>
            <a:endParaRPr lang="zh-CN" altLang="en-US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osKernelStart</a:t>
            </a:r>
            <a:r>
              <a:rPr lang="zh-CN" altLang="en-US">
                <a:sym typeface="+mn-ea"/>
              </a:rPr>
              <a:t>：内核启动</a:t>
            </a:r>
            <a:endParaRPr lang="en-US" altLang="zh-CN">
              <a:sym typeface="+mn-ea"/>
            </a:endParaRPr>
          </a:p>
          <a:p>
            <a:pPr lvl="1" indent="457200"/>
            <a:r>
              <a:rPr lang="en-US" altLang="zh-CN">
                <a:sym typeface="+mn-ea"/>
              </a:rPr>
              <a:t>osKernelLock</a:t>
            </a:r>
            <a:r>
              <a:rPr lang="zh-CN" altLang="en-US">
                <a:sym typeface="+mn-ea"/>
              </a:rPr>
              <a:t>：内核锁定，会停止任务</a:t>
            </a:r>
            <a:r>
              <a:rPr lang="zh-CN" altLang="en-US">
                <a:sym typeface="+mn-ea"/>
              </a:rPr>
              <a:t>切换</a:t>
            </a:r>
            <a:endParaRPr lang="zh-CN" altLang="en-US">
              <a:sym typeface="+mn-ea"/>
            </a:endParaRPr>
          </a:p>
          <a:p>
            <a:pPr lvl="1" indent="457200"/>
            <a:r>
              <a:rPr lang="en-US" altLang="zh-CN">
                <a:sym typeface="+mn-ea"/>
              </a:rPr>
              <a:t>osKernelUnlock</a:t>
            </a:r>
            <a:r>
              <a:rPr lang="zh-CN" altLang="en-US">
                <a:sym typeface="+mn-ea"/>
              </a:rPr>
              <a:t>：解锁</a:t>
            </a:r>
            <a:r>
              <a:rPr lang="zh-CN" altLang="en-US">
                <a:sym typeface="+mn-ea"/>
              </a:rPr>
              <a:t>内核</a:t>
            </a:r>
            <a:endParaRPr lang="zh-CN" altLang="en-US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7" name="墨迹 26"/>
              <p14:cNvContentPartPr/>
              <p14:nvPr/>
            </p14:nvContentPartPr>
            <p14:xfrm>
              <a:off x="2019300" y="2547620"/>
              <a:ext cx="17145" cy="952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"/>
            </p:blipFill>
            <p:spPr>
              <a:xfrm>
                <a:off x="2019300" y="2547620"/>
                <a:ext cx="1714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8" name="墨迹 27"/>
              <p14:cNvContentPartPr/>
              <p14:nvPr/>
            </p14:nvContentPartPr>
            <p14:xfrm>
              <a:off x="2035810" y="2547620"/>
              <a:ext cx="635" cy="63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6"/>
            </p:blipFill>
            <p:spPr>
              <a:xfrm>
                <a:off x="2035810" y="254762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9" name="墨迹 28"/>
              <p14:cNvContentPartPr/>
              <p14:nvPr/>
            </p14:nvContentPartPr>
            <p14:xfrm>
              <a:off x="2026920" y="2529840"/>
              <a:ext cx="9525" cy="571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8"/>
            </p:blipFill>
            <p:spPr>
              <a:xfrm>
                <a:off x="2026920" y="2529840"/>
                <a:ext cx="9525" cy="5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0" name="墨迹 29"/>
              <p14:cNvContentPartPr/>
              <p14:nvPr/>
            </p14:nvContentPartPr>
            <p14:xfrm>
              <a:off x="2119630" y="2540635"/>
              <a:ext cx="5080" cy="762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10"/>
            </p:blipFill>
            <p:spPr>
              <a:xfrm>
                <a:off x="2119630" y="2540635"/>
                <a:ext cx="5080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31" name="墨迹 30"/>
              <p14:cNvContentPartPr/>
              <p14:nvPr/>
            </p14:nvContentPartPr>
            <p14:xfrm>
              <a:off x="2124075" y="2547620"/>
              <a:ext cx="635" cy="63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6"/>
            </p:blipFill>
            <p:spPr>
              <a:xfrm>
                <a:off x="2124075" y="254762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80441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os</a:t>
            </a:r>
            <a:r>
              <a:rPr lang="zh-CN" altLang="en-US" sz="1800"/>
              <a:t>函数与基本</a:t>
            </a:r>
            <a:r>
              <a:rPr lang="zh-CN" altLang="en-US" sz="1800"/>
              <a:t>概念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83385"/>
            <a:ext cx="108826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、任务</a:t>
            </a:r>
            <a:r>
              <a:rPr lang="zh-CN" altLang="en-US">
                <a:sym typeface="+mn-ea"/>
              </a:rPr>
              <a:t>管理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简介：很重要的一类函数，与任务</a:t>
            </a:r>
            <a:r>
              <a:rPr lang="zh-CN" altLang="en-US">
                <a:sym typeface="+mn-ea"/>
              </a:rPr>
              <a:t>息息相关</a:t>
            </a:r>
            <a:endParaRPr lang="zh-CN" altLang="en-US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97585" y="2328545"/>
            <a:ext cx="1080643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函数：</a:t>
            </a:r>
            <a:r>
              <a:rPr lang="en-US" altLang="zh-CN">
                <a:sym typeface="+mn-ea"/>
              </a:rPr>
              <a:t>	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osThreadNew</a:t>
            </a:r>
            <a:r>
              <a:rPr lang="zh-CN" altLang="en-US">
                <a:sym typeface="+mn-ea"/>
              </a:rPr>
              <a:t>：创建任务，需要把任务函数指针传入，注意格式</a:t>
            </a:r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	osThreadGetState</a:t>
            </a:r>
            <a:r>
              <a:rPr lang="zh-CN" altLang="en-US">
                <a:sym typeface="+mn-ea"/>
              </a:rPr>
              <a:t>：获取任务状态（也就是前文所说的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种</a:t>
            </a:r>
            <a:r>
              <a:rPr lang="zh-CN" altLang="en-US">
                <a:sym typeface="+mn-ea"/>
              </a:rPr>
              <a:t>状态）</a:t>
            </a:r>
            <a:endParaRPr lang="zh-CN" altLang="en-US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osThreadYield</a:t>
            </a:r>
            <a:r>
              <a:rPr lang="zh-CN" altLang="en-US">
                <a:sym typeface="+mn-ea"/>
              </a:rPr>
              <a:t>：调用后立刻切换到下一个相同优先级且处于就绪态的</a:t>
            </a:r>
            <a:r>
              <a:rPr lang="zh-CN" altLang="en-US">
                <a:sym typeface="+mn-ea"/>
              </a:rPr>
              <a:t>任务</a:t>
            </a:r>
            <a:endParaRPr lang="zh-CN" altLang="en-US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osThreadSuspend</a:t>
            </a:r>
            <a:r>
              <a:rPr lang="zh-CN" altLang="en-US">
                <a:sym typeface="+mn-ea"/>
              </a:rPr>
              <a:t>：将任务挂起，任务不参与内核调度了但资源不会</a:t>
            </a:r>
            <a:r>
              <a:rPr lang="zh-CN" altLang="en-US">
                <a:sym typeface="+mn-ea"/>
              </a:rPr>
              <a:t>释放</a:t>
            </a:r>
            <a:endParaRPr lang="zh-CN" altLang="en-US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osThreadResume</a:t>
            </a:r>
            <a:r>
              <a:rPr lang="zh-CN" altLang="en-US">
                <a:sym typeface="+mn-ea"/>
              </a:rPr>
              <a:t>：解除任务挂起状态</a:t>
            </a:r>
            <a:endParaRPr lang="zh-CN" altLang="en-US">
              <a:sym typeface="+mn-ea"/>
            </a:endParaRPr>
          </a:p>
          <a:p>
            <a:pPr marL="457200" lvl="1" indent="457200"/>
            <a:r>
              <a:rPr lang="en-US" altLang="zh-CN">
                <a:solidFill>
                  <a:srgbClr val="FF0000"/>
                </a:solidFill>
                <a:sym typeface="+mn-ea"/>
              </a:rPr>
              <a:t>osThreadExit</a:t>
            </a:r>
            <a:r>
              <a:rPr lang="zh-CN" altLang="en-US">
                <a:sym typeface="+mn-ea"/>
              </a:rPr>
              <a:t>：退出任务</a:t>
            </a:r>
            <a:endParaRPr lang="zh-CN" altLang="en-US">
              <a:sym typeface="+mn-ea"/>
            </a:endParaRPr>
          </a:p>
          <a:p>
            <a:pPr marL="457200" lvl="1" indent="457200"/>
            <a:r>
              <a:rPr lang="en-US" altLang="zh-CN">
                <a:sym typeface="+mn-ea"/>
              </a:rPr>
              <a:t>osThreadTerminate</a:t>
            </a:r>
            <a:r>
              <a:rPr lang="zh-CN" altLang="en-US">
                <a:sym typeface="+mn-ea"/>
              </a:rPr>
              <a:t>：删除目标任务</a:t>
            </a:r>
            <a:endParaRPr lang="zh-CN" altLang="en-US">
              <a:sym typeface="+mn-ea"/>
            </a:endParaRPr>
          </a:p>
          <a:p>
            <a:pPr marL="457200" lvl="1" indent="457200"/>
            <a:endParaRPr lang="en-US" altLang="zh-CN">
              <a:sym typeface="+mn-ea"/>
            </a:endParaRPr>
          </a:p>
          <a:p>
            <a:pPr marL="457200" lvl="1" indent="457200"/>
            <a:endParaRPr lang="zh-CN" altLang="en-US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0" name="墨迹 39"/>
              <p14:cNvContentPartPr/>
              <p14:nvPr/>
            </p14:nvContentPartPr>
            <p14:xfrm>
              <a:off x="3178175" y="2585720"/>
              <a:ext cx="11430" cy="1524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3"/>
            </p:blipFill>
            <p:spPr>
              <a:xfrm>
                <a:off x="3178175" y="2585720"/>
                <a:ext cx="11430" cy="152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04" name="墨迹 103"/>
              <p14:cNvContentPartPr/>
              <p14:nvPr/>
            </p14:nvContentPartPr>
            <p14:xfrm>
              <a:off x="1569085" y="3093720"/>
              <a:ext cx="635" cy="635"/>
            </p14:xfrm>
          </p:contentPart>
        </mc:Choice>
        <mc:Fallback xmlns="">
          <p:pic>
            <p:nvPicPr>
              <p:cNvPr id="104" name="墨迹 103"/>
            </p:nvPicPr>
            <p:blipFill>
              <a:blip r:embed="rId5"/>
            </p:blipFill>
            <p:spPr>
              <a:xfrm>
                <a:off x="1569085" y="309372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80187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os</a:t>
            </a:r>
            <a:r>
              <a:rPr lang="zh-CN" altLang="en-US" sz="1800"/>
              <a:t>函数与相关</a:t>
            </a:r>
            <a:r>
              <a:rPr lang="zh-CN" altLang="en-US" sz="1800"/>
              <a:t>概念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83385"/>
            <a:ext cx="108826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、消息</a:t>
            </a:r>
            <a:r>
              <a:rPr lang="zh-CN" altLang="en-US">
                <a:sym typeface="+mn-ea"/>
              </a:rPr>
              <a:t>队列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简介：消息队列类似于</a:t>
            </a:r>
            <a:r>
              <a:rPr lang="en-US" altLang="zh-CN">
                <a:sym typeface="+mn-ea"/>
              </a:rPr>
              <a:t>FIFO</a:t>
            </a:r>
            <a:r>
              <a:rPr lang="zh-CN" altLang="en-US">
                <a:sym typeface="+mn-ea"/>
              </a:rPr>
              <a:t>，可被用于两个任务间信息的</a:t>
            </a:r>
            <a:r>
              <a:rPr lang="zh-CN" altLang="en-US">
                <a:sym typeface="+mn-ea"/>
              </a:rPr>
              <a:t>交换</a:t>
            </a:r>
            <a:endParaRPr lang="zh-CN" altLang="en-US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65" y="2438400"/>
            <a:ext cx="5480050" cy="12509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104265" y="3799205"/>
            <a:ext cx="9273540" cy="8604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800" b="0" i="0"/>
              <a:t>函数：</a:t>
            </a:r>
            <a:r>
              <a:rPr lang="en-US" altLang="zh-CN" sz="1800" b="0" i="0"/>
              <a:t>	</a:t>
            </a:r>
            <a:r>
              <a:rPr lang="zh-CN" altLang="en-US" sz="1800" b="0" i="0"/>
              <a:t>osMe</a:t>
            </a:r>
            <a:r>
              <a:rPr lang="en-US" altLang="zh-CN" sz="1600" b="0" i="0">
                <a:solidFill>
                  <a:srgbClr val="1F0909"/>
                </a:solidFill>
                <a:latin typeface="Lucida Console" panose="020B0609040504020204"/>
                <a:ea typeface="Lucida Console" panose="020B0609040504020204"/>
              </a:rPr>
              <a:t>ssageQueueNew</a:t>
            </a:r>
            <a:r>
              <a:rPr lang="zh-CN" altLang="en-US" sz="1600" b="0" i="0">
                <a:solidFill>
                  <a:srgbClr val="1F0909"/>
                </a:solidFill>
                <a:latin typeface="Lucida Console" panose="020B0609040504020204"/>
                <a:ea typeface="宋体" panose="02010600030101010101" pitchFamily="2" charset="-122"/>
              </a:rPr>
              <a:t>：创建一个队列（要指定单条消息的</a:t>
            </a:r>
            <a:r>
              <a:rPr lang="zh-CN" altLang="en-US" sz="1600" b="0" i="0">
                <a:solidFill>
                  <a:srgbClr val="1F0909"/>
                </a:solidFill>
                <a:latin typeface="Lucida Console" panose="020B0609040504020204"/>
                <a:ea typeface="宋体" panose="02010600030101010101" pitchFamily="2" charset="-122"/>
              </a:rPr>
              <a:t>大小）</a:t>
            </a:r>
            <a:endParaRPr lang="zh-CN" altLang="en-US" sz="1600" b="0" i="0">
              <a:solidFill>
                <a:srgbClr val="1F0909"/>
              </a:solidFill>
              <a:latin typeface="Lucida Console" panose="020B0609040504020204"/>
              <a:ea typeface="宋体" panose="02010600030101010101" pitchFamily="2" charset="-122"/>
            </a:endParaRPr>
          </a:p>
          <a:p>
            <a:pPr marL="457200" lvl="1" indent="457200" algn="l"/>
            <a:r>
              <a:rPr lang="en-US" altLang="zh-CN" sz="1600" b="0" i="0">
                <a:solidFill>
                  <a:srgbClr val="1F0909"/>
                </a:solidFill>
                <a:latin typeface="Lucida Console" panose="020B0609040504020204"/>
                <a:ea typeface="Lucida Console" panose="020B0609040504020204"/>
              </a:rPr>
              <a:t>osMessageQueuePut</a:t>
            </a:r>
            <a:r>
              <a:rPr lang="zh-CN" altLang="en-US" sz="1600" b="0" i="0">
                <a:solidFill>
                  <a:srgbClr val="1F0909"/>
                </a:solidFill>
                <a:latin typeface="Lucida Console" panose="020B0609040504020204"/>
                <a:ea typeface="宋体" panose="02010600030101010101" pitchFamily="2" charset="-122"/>
              </a:rPr>
              <a:t>：向消息队列中写入消息（三</a:t>
            </a:r>
            <a:r>
              <a:rPr lang="zh-CN" altLang="en-US" sz="1600" b="0" i="0">
                <a:solidFill>
                  <a:srgbClr val="1F0909"/>
                </a:solidFill>
                <a:latin typeface="Lucida Console" panose="020B0609040504020204"/>
                <a:ea typeface="宋体" panose="02010600030101010101" pitchFamily="2" charset="-122"/>
              </a:rPr>
              <a:t>态）</a:t>
            </a:r>
            <a:endParaRPr lang="zh-CN" altLang="en-US" sz="1600" b="0" i="0">
              <a:solidFill>
                <a:srgbClr val="1F0909"/>
              </a:solidFill>
              <a:latin typeface="Lucida Console" panose="020B0609040504020204"/>
              <a:ea typeface="宋体" panose="02010600030101010101" pitchFamily="2" charset="-122"/>
            </a:endParaRPr>
          </a:p>
          <a:p>
            <a:pPr marL="457200" lvl="1" indent="457200" algn="l"/>
            <a:r>
              <a:rPr lang="en-US" altLang="zh-CN" sz="1600" b="0" i="0">
                <a:solidFill>
                  <a:srgbClr val="1F0909"/>
                </a:solidFill>
                <a:latin typeface="Lucida Console" panose="020B0609040504020204"/>
                <a:ea typeface="宋体" panose="02010600030101010101" pitchFamily="2" charset="-122"/>
              </a:rPr>
              <a:t>osMessageQueueGet</a:t>
            </a:r>
            <a:r>
              <a:rPr lang="zh-CN" altLang="en-US" sz="1600" b="0" i="0">
                <a:solidFill>
                  <a:srgbClr val="1F0909"/>
                </a:solidFill>
                <a:latin typeface="Lucida Console" panose="020B0609040504020204"/>
                <a:ea typeface="宋体" panose="02010600030101010101" pitchFamily="2" charset="-122"/>
              </a:rPr>
              <a:t>：获取队列</a:t>
            </a:r>
            <a:r>
              <a:rPr lang="zh-CN" altLang="en-US" sz="1600" b="0" i="0">
                <a:solidFill>
                  <a:srgbClr val="1F0909"/>
                </a:solidFill>
                <a:latin typeface="Lucida Console" panose="020B0609040504020204"/>
                <a:ea typeface="宋体" panose="02010600030101010101" pitchFamily="2" charset="-122"/>
              </a:rPr>
              <a:t>消息</a:t>
            </a:r>
            <a:endParaRPr lang="zh-CN" altLang="en-US" sz="1600" b="0" i="0">
              <a:solidFill>
                <a:srgbClr val="1F0909"/>
              </a:solidFill>
              <a:latin typeface="Lucida Console" panose="020B0609040504020204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47" name="墨迹 246"/>
              <p14:cNvContentPartPr/>
              <p14:nvPr/>
            </p14:nvContentPartPr>
            <p14:xfrm>
              <a:off x="5561965" y="3120390"/>
              <a:ext cx="5715" cy="635"/>
            </p14:xfrm>
          </p:contentPart>
        </mc:Choice>
        <mc:Fallback xmlns="">
          <p:pic>
            <p:nvPicPr>
              <p:cNvPr id="247" name="墨迹 246"/>
            </p:nvPicPr>
            <p:blipFill>
              <a:blip r:embed="rId4"/>
            </p:blipFill>
            <p:spPr>
              <a:xfrm>
                <a:off x="5561965" y="3120390"/>
                <a:ext cx="571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48" name="墨迹 247"/>
              <p14:cNvContentPartPr/>
              <p14:nvPr/>
            </p14:nvContentPartPr>
            <p14:xfrm>
              <a:off x="5561965" y="3120390"/>
              <a:ext cx="635" cy="635"/>
            </p14:xfrm>
          </p:contentPart>
        </mc:Choice>
        <mc:Fallback xmlns="">
          <p:pic>
            <p:nvPicPr>
              <p:cNvPr id="248" name="墨迹 247"/>
            </p:nvPicPr>
            <p:blipFill>
              <a:blip r:embed="rId6"/>
            </p:blipFill>
            <p:spPr>
              <a:xfrm>
                <a:off x="5561965" y="312039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80187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os</a:t>
            </a:r>
            <a:r>
              <a:rPr lang="zh-CN" altLang="en-US" sz="1800"/>
              <a:t>函数与相关</a:t>
            </a:r>
            <a:r>
              <a:rPr lang="zh-CN" altLang="en-US" sz="1800"/>
              <a:t>概念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83385"/>
            <a:ext cx="108826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、信号</a:t>
            </a:r>
            <a:r>
              <a:rPr lang="zh-CN" altLang="en-US">
                <a:sym typeface="+mn-ea"/>
              </a:rPr>
              <a:t>量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简介：用于管理和保护对资源的访问，可使不超过一定数量的任务访问同一组共享</a:t>
            </a:r>
            <a:r>
              <a:rPr lang="zh-CN" altLang="en-US">
                <a:sym typeface="+mn-ea"/>
              </a:rPr>
              <a:t>资源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98220" y="4676775"/>
            <a:ext cx="9985375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800" b="0" i="0"/>
              <a:t>函数：</a:t>
            </a:r>
            <a:r>
              <a:rPr lang="en-US" altLang="zh-CN" sz="1800" b="0" i="0"/>
              <a:t>	osSemaphoreNew</a:t>
            </a:r>
            <a:r>
              <a:rPr lang="zh-CN" altLang="en-US" sz="1800" b="0" i="0"/>
              <a:t>：创建</a:t>
            </a:r>
            <a:r>
              <a:rPr lang="zh-CN" altLang="en-US" sz="1800" b="0" i="0"/>
              <a:t>信号量</a:t>
            </a:r>
            <a:endParaRPr lang="zh-CN" altLang="en-US" sz="1800" b="0" i="0"/>
          </a:p>
          <a:p>
            <a:pPr marL="457200" lvl="1" indent="457200" algn="l"/>
            <a:r>
              <a:rPr lang="en-US" altLang="zh-CN" sz="1800" b="0" i="0"/>
              <a:t>osSemaphoreAcquire</a:t>
            </a:r>
            <a:r>
              <a:rPr lang="zh-CN" altLang="en-US" sz="1800" b="0" i="0"/>
              <a:t>：获取信号量（用完之后记得</a:t>
            </a:r>
            <a:r>
              <a:rPr lang="zh-CN" altLang="en-US" sz="1800" b="0" i="0"/>
              <a:t>还回去）</a:t>
            </a:r>
            <a:endParaRPr lang="zh-CN" altLang="en-US" sz="1800" b="0" i="0"/>
          </a:p>
          <a:p>
            <a:pPr marL="457200" lvl="1" indent="457200" algn="l"/>
            <a:r>
              <a:rPr lang="en-US" altLang="zh-CN" sz="1800" b="0" i="0"/>
              <a:t>osSemaphoreRelease</a:t>
            </a:r>
            <a:r>
              <a:rPr lang="zh-CN" altLang="en-US" sz="1800" b="0" i="0"/>
              <a:t>：还回信号量（注意只能还一次，不然其他地方还</a:t>
            </a:r>
            <a:r>
              <a:rPr lang="zh-CN" altLang="en-US" sz="1800" b="0" i="0"/>
              <a:t>信号量会</a:t>
            </a:r>
            <a:r>
              <a:rPr lang="zh-CN" altLang="en-US" sz="1800" b="0" i="0"/>
              <a:t>出错）</a:t>
            </a:r>
            <a:endParaRPr lang="zh-CN" altLang="en-US" sz="1800" b="0" i="0"/>
          </a:p>
          <a:p>
            <a:pPr marL="457200" lvl="1" indent="457200" algn="l"/>
            <a:endParaRPr lang="en-US" altLang="zh-CN" sz="1800" b="0" i="0"/>
          </a:p>
          <a:p>
            <a:pPr marL="457200" lvl="1" indent="457200" algn="l"/>
            <a:endParaRPr lang="zh-CN" altLang="en-US" sz="1800" b="0" i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2406015"/>
            <a:ext cx="3829685" cy="2270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80187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os</a:t>
            </a:r>
            <a:r>
              <a:rPr lang="zh-CN" altLang="en-US" sz="1800"/>
              <a:t>函数与相关</a:t>
            </a:r>
            <a:r>
              <a:rPr lang="zh-CN" altLang="en-US" sz="1800"/>
              <a:t>概念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83385"/>
            <a:ext cx="108826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ym typeface="+mn-ea"/>
              </a:rPr>
              <a:t>互斥量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简介：可以看作是深度为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的信号量，用来限制一个共享资源在一段时间只被一个任务</a:t>
            </a:r>
            <a:r>
              <a:rPr lang="zh-CN" altLang="en-US">
                <a:sym typeface="+mn-ea"/>
              </a:rPr>
              <a:t>使用</a:t>
            </a:r>
            <a:endParaRPr lang="zh-CN" altLang="en-US">
              <a:sym typeface="+mn-ea"/>
            </a:endParaRPr>
          </a:p>
          <a:p>
            <a:pPr marL="914400" lvl="2" indent="457200"/>
            <a:r>
              <a:rPr lang="zh-CN" altLang="en-US">
                <a:sym typeface="+mn-ea"/>
              </a:rPr>
              <a:t>（信号量任何任务都可以释放，互斥量只有持有者可以释放）</a:t>
            </a:r>
            <a:endParaRPr lang="en-US" altLang="zh-CN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98220" y="4676775"/>
            <a:ext cx="9985375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800" b="0" i="0"/>
              <a:t>函数：</a:t>
            </a:r>
            <a:r>
              <a:rPr lang="en-US" altLang="zh-CN" sz="1800" b="0" i="0"/>
              <a:t>	osSemaphoreNew</a:t>
            </a:r>
            <a:r>
              <a:rPr lang="zh-CN" altLang="en-US" sz="1800" b="0" i="0"/>
              <a:t>：创建</a:t>
            </a:r>
            <a:r>
              <a:rPr lang="zh-CN" altLang="en-US" sz="1800" b="0" i="0"/>
              <a:t>信号量</a:t>
            </a:r>
            <a:endParaRPr lang="zh-CN" altLang="en-US" sz="1800" b="0" i="0"/>
          </a:p>
          <a:p>
            <a:pPr marL="457200" lvl="1" indent="457200" algn="l"/>
            <a:r>
              <a:rPr lang="en-US" altLang="zh-CN" sz="1800" b="0" i="0"/>
              <a:t>osSemaphoreAcquire</a:t>
            </a:r>
            <a:r>
              <a:rPr lang="zh-CN" altLang="en-US" sz="1800" b="0" i="0"/>
              <a:t>：获取信号量（用完之后记得</a:t>
            </a:r>
            <a:r>
              <a:rPr lang="zh-CN" altLang="en-US" sz="1800" b="0" i="0"/>
              <a:t>还回去）</a:t>
            </a:r>
            <a:endParaRPr lang="zh-CN" altLang="en-US" sz="1800" b="0" i="0"/>
          </a:p>
          <a:p>
            <a:pPr marL="457200" lvl="1" indent="457200" algn="l"/>
            <a:r>
              <a:rPr lang="en-US" altLang="zh-CN" sz="1800" b="0" i="0"/>
              <a:t>osSemaphoreRelease</a:t>
            </a:r>
            <a:r>
              <a:rPr lang="zh-CN" altLang="en-US" sz="1800" b="0" i="0"/>
              <a:t>：还回信号量（注意只能还一次，不然其他地方还</a:t>
            </a:r>
            <a:r>
              <a:rPr lang="zh-CN" altLang="en-US" sz="1800" b="0" i="0"/>
              <a:t>信号量会</a:t>
            </a:r>
            <a:r>
              <a:rPr lang="zh-CN" altLang="en-US" sz="1800" b="0" i="0"/>
              <a:t>出错）</a:t>
            </a:r>
            <a:endParaRPr lang="zh-CN" altLang="en-US" sz="1800" b="0" i="0"/>
          </a:p>
          <a:p>
            <a:pPr marL="457200" lvl="1" indent="457200" algn="l"/>
            <a:endParaRPr lang="en-US" altLang="zh-CN" sz="1800" b="0" i="0"/>
          </a:p>
          <a:p>
            <a:pPr marL="457200" lvl="1" indent="457200" algn="l"/>
            <a:endParaRPr lang="zh-CN" altLang="en-US" sz="1800" b="0" i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2605405"/>
            <a:ext cx="5480050" cy="1403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7" name="墨迹 26"/>
              <p14:cNvContentPartPr/>
              <p14:nvPr/>
            </p14:nvContentPartPr>
            <p14:xfrm>
              <a:off x="1595120" y="1948180"/>
              <a:ext cx="635" cy="63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"/>
            </p:blipFill>
            <p:spPr>
              <a:xfrm>
                <a:off x="1595120" y="194818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80187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os</a:t>
            </a:r>
            <a:r>
              <a:rPr lang="zh-CN" altLang="en-US" sz="1800"/>
              <a:t>函数与相关</a:t>
            </a:r>
            <a:r>
              <a:rPr lang="zh-CN" altLang="en-US" sz="1800"/>
              <a:t>概念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83385"/>
            <a:ext cx="108826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、事件</a:t>
            </a:r>
            <a:r>
              <a:rPr lang="zh-CN" altLang="en-US">
                <a:sym typeface="+mn-ea"/>
              </a:rPr>
              <a:t>标志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简介：类似于一种高端的标志位组，可以用来对不同任务进行同步，一个事件标志有</a:t>
            </a:r>
            <a:r>
              <a:rPr lang="en-US" altLang="zh-CN">
                <a:sym typeface="+mn-ea"/>
              </a:rPr>
              <a:t>32</a:t>
            </a:r>
            <a:r>
              <a:rPr lang="zh-CN" altLang="en-US">
                <a:sym typeface="+mn-ea"/>
              </a:rPr>
              <a:t>个独立的</a:t>
            </a:r>
            <a:r>
              <a:rPr lang="zh-CN" altLang="en-US">
                <a:sym typeface="+mn-ea"/>
              </a:rPr>
              <a:t>位</a:t>
            </a:r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              </a:t>
            </a:r>
            <a:r>
              <a:rPr lang="zh-CN" altLang="en-US">
                <a:sym typeface="+mn-ea"/>
              </a:rPr>
              <a:t>有点像深度为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，大小为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个字节的消息</a:t>
            </a:r>
            <a:r>
              <a:rPr lang="zh-CN" altLang="en-US">
                <a:sym typeface="+mn-ea"/>
              </a:rPr>
              <a:t>队列</a:t>
            </a:r>
            <a:endParaRPr lang="zh-CN" altLang="en-US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84250" y="2691130"/>
            <a:ext cx="1541018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800" b="0" i="0"/>
              <a:t>函数：</a:t>
            </a:r>
            <a:r>
              <a:rPr lang="en-US" altLang="zh-CN" sz="1800" b="0" i="0"/>
              <a:t>	osEventFlagsNew</a:t>
            </a:r>
            <a:r>
              <a:rPr lang="zh-CN" altLang="en-US" sz="1800" b="0" i="0"/>
              <a:t>：创建事件</a:t>
            </a:r>
            <a:r>
              <a:rPr lang="zh-CN" altLang="en-US" sz="1800" b="0" i="0"/>
              <a:t>标志</a:t>
            </a:r>
            <a:endParaRPr lang="zh-CN" altLang="en-US" sz="1800" b="0" i="0"/>
          </a:p>
          <a:p>
            <a:pPr marL="457200" lvl="1" indent="457200" algn="l"/>
            <a:r>
              <a:rPr lang="en-US" altLang="zh-CN" sz="1800" b="0" i="0"/>
              <a:t>osEventFlagsClear</a:t>
            </a:r>
            <a:r>
              <a:rPr lang="zh-CN" altLang="en-US" sz="1800" b="0" i="0"/>
              <a:t>：清除事件标志的某些</a:t>
            </a:r>
            <a:r>
              <a:rPr lang="zh-CN" altLang="en-US" sz="1800" b="0" i="0"/>
              <a:t>位</a:t>
            </a:r>
            <a:endParaRPr lang="zh-CN" altLang="en-US" sz="1800" b="0" i="0"/>
          </a:p>
          <a:p>
            <a:pPr marL="457200" lvl="1" indent="457200" algn="l"/>
            <a:r>
              <a:rPr lang="en-US" altLang="zh-CN" sz="1800" b="0" i="0"/>
              <a:t>osEventFlagsWait</a:t>
            </a:r>
            <a:r>
              <a:rPr lang="zh-CN" altLang="en-US" sz="1800" b="0" i="0"/>
              <a:t>：可用于等待事件标志的某些位，等待时调用该函数的任务进入阻塞态</a:t>
            </a:r>
            <a:endParaRPr lang="zh-CN" altLang="en-US" sz="1800" b="0" i="0"/>
          </a:p>
          <a:p>
            <a:pPr marL="2286000" lvl="5" indent="457200" algn="l"/>
            <a:r>
              <a:rPr lang="zh-CN" altLang="en-US" sz="1800" b="0" i="0"/>
              <a:t>函数可通过传入不同参数选择等待某个或某些位，可在等待到后置零该</a:t>
            </a:r>
            <a:r>
              <a:rPr lang="zh-CN" altLang="en-US" sz="1800" b="0" i="0"/>
              <a:t>位</a:t>
            </a:r>
            <a:endParaRPr lang="zh-CN" altLang="en-US" sz="1800" b="0" i="0"/>
          </a:p>
          <a:p>
            <a:pPr marL="2286000" lvl="5" indent="457200" algn="l"/>
            <a:endParaRPr lang="zh-CN" altLang="en-US" sz="1800" b="0" i="0"/>
          </a:p>
          <a:p>
            <a:pPr marL="457200" lvl="1" indent="457200" algn="l"/>
            <a:endParaRPr lang="zh-CN" altLang="en-US" sz="1800" b="0" i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80187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os</a:t>
            </a:r>
            <a:r>
              <a:rPr lang="zh-CN" altLang="en-US" sz="1800"/>
              <a:t>函数与相关</a:t>
            </a:r>
            <a:r>
              <a:rPr lang="zh-CN" altLang="en-US" sz="1800"/>
              <a:t>概念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83385"/>
            <a:ext cx="108826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ym typeface="+mn-ea"/>
              </a:rPr>
              <a:t>任务标志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简介：任务标志可以看作是私有化的事件标志，作用更多是为了特定的任务服务，而不像事件标志那</a:t>
            </a:r>
            <a:r>
              <a:rPr lang="en-US" altLang="zh-CN">
                <a:sym typeface="+mn-ea"/>
              </a:rPr>
              <a:t>	     </a:t>
            </a:r>
            <a:r>
              <a:rPr lang="zh-CN" altLang="en-US">
                <a:sym typeface="+mn-ea"/>
              </a:rPr>
              <a:t>样类似于布告板之类的。随着任务的创建而自动创建。</a:t>
            </a:r>
            <a:endParaRPr lang="zh-CN" altLang="en-US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84250" y="2691130"/>
            <a:ext cx="1541018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800" b="0" i="0"/>
              <a:t>函数：</a:t>
            </a:r>
            <a:r>
              <a:rPr lang="en-US" altLang="zh-CN" sz="1800" b="0" i="0"/>
              <a:t>	osThreadFlagsSet</a:t>
            </a:r>
            <a:r>
              <a:rPr lang="zh-CN" altLang="en-US" sz="1800" b="0" i="0"/>
              <a:t>：设置任务标志的</a:t>
            </a:r>
            <a:r>
              <a:rPr lang="zh-CN" altLang="en-US" sz="1800" b="0" i="0"/>
              <a:t>值</a:t>
            </a:r>
            <a:endParaRPr lang="zh-CN" altLang="en-US" sz="1800" b="0" i="0"/>
          </a:p>
          <a:p>
            <a:pPr marL="457200" lvl="1" indent="457200" algn="l"/>
            <a:r>
              <a:rPr lang="en-US" altLang="zh-CN" sz="1800" b="0" i="0"/>
              <a:t>osThreadFlagsClear</a:t>
            </a:r>
            <a:r>
              <a:rPr lang="zh-CN" altLang="en-US" sz="1800" b="0" i="0"/>
              <a:t>：清除任务标志的某些</a:t>
            </a:r>
            <a:r>
              <a:rPr lang="zh-CN" altLang="en-US" sz="1800" b="0" i="0"/>
              <a:t>位</a:t>
            </a:r>
            <a:endParaRPr lang="zh-CN" altLang="en-US" sz="1800" b="0" i="0"/>
          </a:p>
          <a:p>
            <a:pPr marL="457200" lvl="1" indent="457200" algn="l"/>
            <a:r>
              <a:rPr lang="en-US" altLang="zh-CN" sz="1800" b="0" i="0"/>
              <a:t>osThreadFlagsWait</a:t>
            </a:r>
            <a:r>
              <a:rPr lang="zh-CN" altLang="en-US" sz="1800" b="0" i="0"/>
              <a:t>：获取任务标志</a:t>
            </a:r>
            <a:r>
              <a:rPr lang="zh-CN" altLang="en-US" sz="1800" b="0" i="0"/>
              <a:t>值</a:t>
            </a:r>
            <a:endParaRPr lang="zh-CN" altLang="en-US" sz="1800" b="0" i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80187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os</a:t>
            </a:r>
            <a:r>
              <a:rPr lang="zh-CN" altLang="en-US" sz="1800"/>
              <a:t>函数与相关</a:t>
            </a:r>
            <a:r>
              <a:rPr lang="zh-CN" altLang="en-US" sz="1800"/>
              <a:t>概念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83385"/>
            <a:ext cx="108826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ym typeface="+mn-ea"/>
              </a:rPr>
              <a:t>延时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简介：在多线程中任务为了不占用过多的资源或影响实时性应用</a:t>
            </a:r>
            <a:r>
              <a:rPr lang="en-US" altLang="zh-CN">
                <a:sym typeface="+mn-ea"/>
              </a:rPr>
              <a:t>os</a:t>
            </a:r>
            <a:r>
              <a:rPr lang="zh-CN" altLang="en-US">
                <a:sym typeface="+mn-ea"/>
              </a:rPr>
              <a:t>系列延时</a:t>
            </a:r>
            <a:r>
              <a:rPr lang="zh-CN" altLang="en-US">
                <a:sym typeface="+mn-ea"/>
              </a:rPr>
              <a:t>函数</a:t>
            </a:r>
            <a:endParaRPr lang="zh-CN" altLang="en-US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84250" y="2691130"/>
            <a:ext cx="1541018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800" b="0" i="0"/>
              <a:t>函数：</a:t>
            </a:r>
            <a:r>
              <a:rPr lang="en-US" altLang="zh-CN" sz="1800" b="0" i="0"/>
              <a:t>	osDelay</a:t>
            </a:r>
            <a:r>
              <a:rPr lang="zh-CN" altLang="en-US" sz="1800" b="0" i="0"/>
              <a:t>：相对延时，传入一个要延时的</a:t>
            </a:r>
            <a:r>
              <a:rPr lang="zh-CN" altLang="en-US" sz="1800" b="0" i="0"/>
              <a:t>时间，从调用时开始计时</a:t>
            </a:r>
            <a:r>
              <a:rPr lang="zh-CN" altLang="en-US" sz="1800" b="0" i="0"/>
              <a:t>延时</a:t>
            </a:r>
            <a:endParaRPr lang="zh-CN" altLang="en-US" sz="1800" b="0" i="0"/>
          </a:p>
          <a:p>
            <a:pPr marL="457200" lvl="1" indent="457200" algn="l"/>
            <a:r>
              <a:rPr lang="en-US" altLang="zh-CN" sz="1800" b="0" i="0"/>
              <a:t>osDelayUntil</a:t>
            </a:r>
            <a:r>
              <a:rPr lang="zh-CN" altLang="en-US" sz="1800" b="0" i="0"/>
              <a:t>：绝对延时，传入一个延时到的</a:t>
            </a:r>
            <a:r>
              <a:rPr lang="zh-CN" altLang="en-US" sz="1800" b="0" i="0"/>
              <a:t>时刻</a:t>
            </a:r>
            <a:endParaRPr lang="zh-CN" altLang="en-US" sz="1800" b="0" i="0"/>
          </a:p>
          <a:p>
            <a:pPr marL="1828800" lvl="4" indent="457200" algn="l"/>
            <a:r>
              <a:rPr lang="zh-CN" altLang="en-US" sz="1800" b="0" i="0"/>
              <a:t>通常先获取当前时刻</a:t>
            </a:r>
            <a:r>
              <a:rPr lang="en-US" altLang="zh-CN" sz="1800" b="0" i="0"/>
              <a:t>t</a:t>
            </a:r>
            <a:r>
              <a:rPr lang="zh-CN" altLang="en-US" sz="1800" b="0" i="0"/>
              <a:t>，延时时间为</a:t>
            </a:r>
            <a:r>
              <a:rPr lang="en-US" altLang="zh-CN" sz="1800" b="0" i="0"/>
              <a:t>t0</a:t>
            </a:r>
            <a:r>
              <a:rPr lang="zh-CN" altLang="en-US" sz="1800" b="0" i="0"/>
              <a:t>，取</a:t>
            </a:r>
            <a:r>
              <a:rPr lang="en-US" altLang="zh-CN" sz="1800" b="0" i="0"/>
              <a:t>t+t0</a:t>
            </a:r>
            <a:r>
              <a:rPr lang="zh-CN" altLang="en-US" sz="1800" b="0" i="0"/>
              <a:t>传入</a:t>
            </a:r>
            <a:endParaRPr lang="zh-CN" altLang="en-US" sz="1800" b="0" i="0"/>
          </a:p>
          <a:p>
            <a:pPr marL="1828800" lvl="4" indent="457200" algn="l"/>
            <a:endParaRPr lang="zh-CN" altLang="en-US" sz="1800" b="0" i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91" name="墨迹 190"/>
              <p14:cNvContentPartPr/>
              <p14:nvPr/>
            </p14:nvContentPartPr>
            <p14:xfrm>
              <a:off x="2948940" y="5359400"/>
              <a:ext cx="4445" cy="4445"/>
            </p14:xfrm>
          </p:contentPart>
        </mc:Choice>
        <mc:Fallback xmlns="">
          <p:pic>
            <p:nvPicPr>
              <p:cNvPr id="191" name="墨迹 190"/>
            </p:nvPicPr>
            <p:blipFill>
              <a:blip r:embed="rId3"/>
            </p:blipFill>
            <p:spPr>
              <a:xfrm>
                <a:off x="2948940" y="5359400"/>
                <a:ext cx="4445" cy="444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563745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战队工作流与创建</a:t>
            </a:r>
            <a:r>
              <a:rPr lang="zh-CN" altLang="en-US" sz="1800"/>
              <a:t>任务</a:t>
            </a:r>
            <a:endParaRPr lang="zh-CN" altLang="en-US" sz="1800"/>
          </a:p>
        </p:txBody>
      </p:sp>
      <p:sp>
        <p:nvSpPr>
          <p:cNvPr id="19" name="文本框 18"/>
          <p:cNvSpPr txBox="1"/>
          <p:nvPr/>
        </p:nvSpPr>
        <p:spPr>
          <a:xfrm>
            <a:off x="794385" y="1675765"/>
            <a:ext cx="107061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/>
            <a:r>
              <a:rPr lang="zh-CN" altLang="en-US">
                <a:sym typeface="+mn-ea"/>
              </a:rPr>
              <a:t>多人合作时，我们不希望在</a:t>
            </a:r>
            <a:r>
              <a:rPr lang="en-US" altLang="zh-CN">
                <a:sym typeface="+mn-ea"/>
              </a:rPr>
              <a:t>CubeMX</a:t>
            </a:r>
            <a:r>
              <a:rPr lang="zh-CN" altLang="en-US">
                <a:sym typeface="+mn-ea"/>
              </a:rPr>
              <a:t>生成的代码区写自己的代码，因为可能被覆盖且结构</a:t>
            </a:r>
            <a:r>
              <a:rPr lang="zh-CN" altLang="en-US">
                <a:sym typeface="+mn-ea"/>
              </a:rPr>
              <a:t>难看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统一要求按照如下工作流进行任务</a:t>
            </a:r>
            <a:r>
              <a:rPr lang="zh-CN" altLang="en-US">
                <a:sym typeface="+mn-ea"/>
              </a:rPr>
              <a:t>创建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2895" y="23825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ym typeface="+mn-ea"/>
              </a:rPr>
              <a:t>1</a:t>
            </a:r>
            <a:r>
              <a:rPr lang="zh-CN" altLang="en-US" b="1">
                <a:sym typeface="+mn-ea"/>
              </a:rPr>
              <a:t>、在</a:t>
            </a:r>
            <a:r>
              <a:rPr lang="en-US" altLang="zh-CN" b="1">
                <a:sym typeface="+mn-ea"/>
              </a:rPr>
              <a:t>CubeMX</a:t>
            </a:r>
            <a:r>
              <a:rPr lang="zh-CN" altLang="en-US" b="1">
                <a:sym typeface="+mn-ea"/>
              </a:rPr>
              <a:t>中的配置</a:t>
            </a:r>
            <a:endParaRPr lang="zh-CN" altLang="en-US" b="1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" y="2819400"/>
            <a:ext cx="3696970" cy="37846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636770" y="28194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HAL</a:t>
            </a:r>
            <a:r>
              <a:rPr lang="zh-CN" altLang="en-US">
                <a:sym typeface="+mn-ea"/>
              </a:rPr>
              <a:t>库时基由</a:t>
            </a:r>
            <a:r>
              <a:rPr lang="en-US" altLang="zh-CN">
                <a:sym typeface="+mn-ea"/>
              </a:rPr>
              <a:t>systick</a:t>
            </a:r>
            <a:r>
              <a:rPr lang="zh-CN" altLang="en-US">
                <a:sym typeface="+mn-ea"/>
              </a:rPr>
              <a:t>改为其他</a:t>
            </a:r>
            <a:r>
              <a:rPr lang="en-US" altLang="zh-CN">
                <a:sym typeface="+mn-ea"/>
              </a:rPr>
              <a:t>TIM</a:t>
            </a:r>
            <a:endParaRPr lang="en-US" altLang="zh-CN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36770" y="3790315"/>
            <a:ext cx="556387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/>
            <a:r>
              <a:rPr lang="zh-CN" altLang="en-US" sz="1400">
                <a:sym typeface="+mn-ea"/>
              </a:rPr>
              <a:t>一般情况下</a:t>
            </a:r>
            <a:r>
              <a:rPr lang="en-US" altLang="zh-CN" sz="1400">
                <a:sym typeface="+mn-ea"/>
              </a:rPr>
              <a:t>FreeRTOS</a:t>
            </a:r>
            <a:r>
              <a:rPr lang="zh-CN" altLang="en-US" sz="1400">
                <a:sym typeface="+mn-ea"/>
              </a:rPr>
              <a:t>会建议你把</a:t>
            </a:r>
            <a:r>
              <a:rPr lang="en-US" altLang="zh-CN" sz="1400">
                <a:sym typeface="+mn-ea"/>
              </a:rPr>
              <a:t>HAL</a:t>
            </a:r>
            <a:r>
              <a:rPr lang="zh-CN" altLang="en-US" sz="1400">
                <a:sym typeface="+mn-ea"/>
              </a:rPr>
              <a:t>库的时基切换到</a:t>
            </a:r>
            <a:r>
              <a:rPr lang="en-US" altLang="zh-CN" sz="1400">
                <a:sym typeface="+mn-ea"/>
              </a:rPr>
              <a:t>systick</a:t>
            </a:r>
            <a:r>
              <a:rPr lang="zh-CN" altLang="en-US" sz="1400">
                <a:sym typeface="+mn-ea"/>
              </a:rPr>
              <a:t>外的时钟，因为当你勾选了</a:t>
            </a:r>
            <a:r>
              <a:rPr lang="en-US" altLang="zh-CN" sz="1400">
                <a:sym typeface="+mn-ea"/>
              </a:rPr>
              <a:t>FreeRTOS</a:t>
            </a:r>
            <a:r>
              <a:rPr lang="zh-CN" altLang="en-US" sz="1400">
                <a:sym typeface="+mn-ea"/>
              </a:rPr>
              <a:t>之后，</a:t>
            </a:r>
            <a:r>
              <a:rPr lang="en-US" altLang="zh-CN" sz="1400">
                <a:sym typeface="+mn-ea"/>
              </a:rPr>
              <a:t>systick</a:t>
            </a:r>
            <a:r>
              <a:rPr lang="zh-CN" altLang="en-US" sz="1400">
                <a:sym typeface="+mn-ea"/>
              </a:rPr>
              <a:t>会默认作为</a:t>
            </a:r>
            <a:r>
              <a:rPr lang="en-US" altLang="zh-CN" sz="1400">
                <a:sym typeface="+mn-ea"/>
              </a:rPr>
              <a:t>FreeRTOS</a:t>
            </a:r>
            <a:r>
              <a:rPr lang="zh-CN" altLang="en-US" sz="1400">
                <a:sym typeface="+mn-ea"/>
              </a:rPr>
              <a:t>调度的时基，网上大多数教程也会建议更换时基，但我个人觉得理由都不是很充分，保险起见，此处更改</a:t>
            </a:r>
            <a:r>
              <a:rPr lang="en-US" altLang="zh-CN" sz="1400">
                <a:sym typeface="+mn-ea"/>
              </a:rPr>
              <a:t>HAL</a:t>
            </a:r>
            <a:r>
              <a:rPr lang="zh-CN" altLang="en-US" sz="1400">
                <a:sym typeface="+mn-ea"/>
              </a:rPr>
              <a:t>库时基。</a:t>
            </a:r>
            <a:endParaRPr lang="zh-CN" altLang="en-US" sz="1400">
              <a:sym typeface="+mn-ea"/>
            </a:endParaRPr>
          </a:p>
          <a:p>
            <a:pPr indent="457200" algn="l"/>
            <a:endParaRPr lang="zh-CN" alt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563745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战队工作流与创建</a:t>
            </a:r>
            <a:r>
              <a:rPr lang="zh-CN" altLang="en-US" sz="1800"/>
              <a:t>任务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464185" y="14662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ym typeface="+mn-ea"/>
              </a:rPr>
              <a:t>1</a:t>
            </a:r>
            <a:r>
              <a:rPr lang="zh-CN" altLang="en-US" b="1">
                <a:sym typeface="+mn-ea"/>
              </a:rPr>
              <a:t>、在</a:t>
            </a:r>
            <a:r>
              <a:rPr lang="en-US" altLang="zh-CN" b="1">
                <a:sym typeface="+mn-ea"/>
              </a:rPr>
              <a:t>CubeMX</a:t>
            </a:r>
            <a:r>
              <a:rPr lang="zh-CN" altLang="en-US" b="1">
                <a:sym typeface="+mn-ea"/>
              </a:rPr>
              <a:t>中的配置</a:t>
            </a:r>
            <a:endParaRPr lang="zh-CN" altLang="en-US" b="1"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2171065"/>
            <a:ext cx="6010275" cy="412305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875780" y="2171065"/>
            <a:ext cx="547560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、中间层选择</a:t>
            </a:r>
            <a:r>
              <a:rPr lang="en-US" altLang="zh-CN">
                <a:sym typeface="+mn-ea"/>
              </a:rPr>
              <a:t>CubeMX</a:t>
            </a:r>
            <a:r>
              <a:rPr lang="zh-CN" altLang="en-US">
                <a:sym typeface="+mn-ea"/>
              </a:rPr>
              <a:t>为我们移植好的</a:t>
            </a:r>
            <a:r>
              <a:rPr lang="en-US" altLang="zh-CN">
                <a:sym typeface="+mn-ea"/>
              </a:rPr>
              <a:t>FreeRTOS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、接口选择</a:t>
            </a:r>
            <a:r>
              <a:rPr lang="en-US" altLang="zh-CN">
                <a:sym typeface="+mn-ea"/>
              </a:rPr>
              <a:t>V2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、在</a:t>
            </a:r>
            <a:r>
              <a:rPr lang="en-US" altLang="zh-CN">
                <a:sym typeface="+mn-ea"/>
              </a:rPr>
              <a:t>Tasks and Queues</a:t>
            </a:r>
            <a:r>
              <a:rPr lang="zh-CN" altLang="en-US">
                <a:sym typeface="+mn-ea"/>
              </a:rPr>
              <a:t>栏创建一个</a:t>
            </a:r>
            <a:r>
              <a:rPr lang="en-US" altLang="zh-CN">
                <a:sym typeface="+mn-ea"/>
              </a:rPr>
              <a:t>Init Task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记得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Entry Function</a:t>
            </a:r>
            <a:r>
              <a:rPr lang="zh-CN" altLang="en-US">
                <a:sym typeface="+mn-ea"/>
              </a:rPr>
              <a:t>选择输入</a:t>
            </a:r>
            <a:r>
              <a:rPr lang="en-US" altLang="zh-CN">
                <a:sym typeface="+mn-ea"/>
              </a:rPr>
              <a:t>init</a:t>
            </a:r>
            <a:r>
              <a:rPr lang="zh-CN" altLang="en-US">
                <a:sym typeface="+mn-ea"/>
              </a:rPr>
              <a:t>（一字不差，包括</a:t>
            </a:r>
            <a:r>
              <a:rPr lang="zh-CN" altLang="en-US">
                <a:sym typeface="+mn-ea"/>
              </a:rPr>
              <a:t>大小写）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、优先级调整的高一点，</a:t>
            </a:r>
            <a:r>
              <a:rPr lang="en-US" altLang="zh-CN">
                <a:sym typeface="+mn-ea"/>
              </a:rPr>
              <a:t>code</a:t>
            </a:r>
            <a:r>
              <a:rPr lang="zh-CN" altLang="en-US">
                <a:sym typeface="+mn-ea"/>
              </a:rPr>
              <a:t>创建选择</a:t>
            </a:r>
            <a:r>
              <a:rPr lang="en-US" altLang="zh-CN">
                <a:sym typeface="+mn-ea"/>
              </a:rPr>
              <a:t>external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、如果你的工程比较大，把</a:t>
            </a:r>
            <a:r>
              <a:rPr lang="en-US" altLang="zh-CN">
                <a:sym typeface="+mn-ea"/>
              </a:rPr>
              <a:t>stack size</a:t>
            </a:r>
            <a:r>
              <a:rPr lang="zh-CN" altLang="en-US">
                <a:sym typeface="+mn-ea"/>
              </a:rPr>
              <a:t>选大一点，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必须是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的倍数（如果不是也会强行</a:t>
            </a:r>
            <a:r>
              <a:rPr lang="zh-CN" altLang="en-US">
                <a:sym typeface="+mn-ea"/>
              </a:rPr>
              <a:t>是）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3" name="墨迹 22"/>
              <p14:cNvContentPartPr/>
              <p14:nvPr/>
            </p14:nvContentPartPr>
            <p14:xfrm>
              <a:off x="1753870" y="3949065"/>
              <a:ext cx="7620" cy="762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"/>
            </p:blipFill>
            <p:spPr>
              <a:xfrm>
                <a:off x="1753870" y="3949065"/>
                <a:ext cx="7620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8" name="墨迹 27"/>
              <p14:cNvContentPartPr/>
              <p14:nvPr/>
            </p14:nvContentPartPr>
            <p14:xfrm>
              <a:off x="3173095" y="3120390"/>
              <a:ext cx="635" cy="63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6"/>
            </p:blipFill>
            <p:spPr>
              <a:xfrm>
                <a:off x="3173095" y="312039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26" name="墨迹 225"/>
              <p14:cNvContentPartPr/>
              <p14:nvPr/>
            </p14:nvContentPartPr>
            <p14:xfrm>
              <a:off x="4794885" y="4169410"/>
              <a:ext cx="635" cy="635"/>
            </p14:xfrm>
          </p:contentPart>
        </mc:Choice>
        <mc:Fallback xmlns="">
          <p:pic>
            <p:nvPicPr>
              <p:cNvPr id="226" name="墨迹 225"/>
            </p:nvPicPr>
            <p:blipFill>
              <a:blip r:embed="rId6"/>
            </p:blipFill>
            <p:spPr>
              <a:xfrm>
                <a:off x="4794885" y="416941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47" name="墨迹 246"/>
              <p14:cNvContentPartPr/>
              <p14:nvPr/>
            </p14:nvContentPartPr>
            <p14:xfrm>
              <a:off x="6188075" y="4160520"/>
              <a:ext cx="635" cy="635"/>
            </p14:xfrm>
          </p:contentPart>
        </mc:Choice>
        <mc:Fallback xmlns="">
          <p:pic>
            <p:nvPicPr>
              <p:cNvPr id="247" name="墨迹 246"/>
            </p:nvPicPr>
            <p:blipFill>
              <a:blip r:embed="rId6"/>
            </p:blipFill>
            <p:spPr>
              <a:xfrm>
                <a:off x="6188075" y="416052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563745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战队工作流与创建</a:t>
            </a:r>
            <a:r>
              <a:rPr lang="zh-CN" altLang="en-US" sz="1800"/>
              <a:t>任务</a:t>
            </a:r>
            <a:endParaRPr lang="zh-CN" altLang="en-US" sz="1800"/>
          </a:p>
        </p:txBody>
      </p:sp>
      <p:sp>
        <p:nvSpPr>
          <p:cNvPr id="17" name="文本框 16"/>
          <p:cNvSpPr txBox="1"/>
          <p:nvPr/>
        </p:nvSpPr>
        <p:spPr>
          <a:xfrm>
            <a:off x="936625" y="14490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、</a:t>
            </a:r>
            <a:r>
              <a:rPr lang="en-US" altLang="zh-CN" b="1">
                <a:sym typeface="+mn-ea"/>
              </a:rPr>
              <a:t>VSCode</a:t>
            </a:r>
            <a:r>
              <a:rPr lang="zh-CN" altLang="en-US" b="1">
                <a:sym typeface="+mn-ea"/>
              </a:rPr>
              <a:t>中其他任务的</a:t>
            </a:r>
            <a:r>
              <a:rPr lang="zh-CN" altLang="en-US" b="1">
                <a:sym typeface="+mn-ea"/>
              </a:rPr>
              <a:t>创建</a:t>
            </a:r>
            <a:endParaRPr lang="zh-CN" altLang="en-US" b="1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" y="1991360"/>
            <a:ext cx="3713480" cy="3157220"/>
          </a:xfrm>
          <a:prstGeom prst="rect">
            <a:avLst/>
          </a:prstGeom>
        </p:spPr>
      </p:pic>
      <p:sp>
        <p:nvSpPr>
          <p:cNvPr id="15" name="上箭头 14"/>
          <p:cNvSpPr/>
          <p:nvPr/>
        </p:nvSpPr>
        <p:spPr>
          <a:xfrm>
            <a:off x="1934845" y="5148580"/>
            <a:ext cx="727075" cy="358140"/>
          </a:xfrm>
          <a:prstGeom prst="upArrow">
            <a:avLst/>
          </a:prstGeom>
          <a:solidFill>
            <a:schemeClr val="accent6"/>
          </a:solidFill>
          <a:ln w="28575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36625" y="564388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工程目录下新建</a:t>
            </a:r>
            <a:r>
              <a:rPr lang="en-US" altLang="zh-CN">
                <a:sym typeface="+mn-ea"/>
              </a:rPr>
              <a:t>UserCode</a:t>
            </a:r>
            <a:r>
              <a:rPr lang="zh-CN" altLang="en-US">
                <a:sym typeface="+mn-ea"/>
              </a:rPr>
              <a:t>文件夹</a:t>
            </a:r>
            <a:endParaRPr lang="zh-CN" altLang="en-US">
              <a:sym typeface="+mn-ea"/>
            </a:endParaRPr>
          </a:p>
        </p:txBody>
      </p:sp>
      <p:sp>
        <p:nvSpPr>
          <p:cNvPr id="21" name="上箭头 20"/>
          <p:cNvSpPr/>
          <p:nvPr/>
        </p:nvSpPr>
        <p:spPr>
          <a:xfrm rot="5400000">
            <a:off x="9260205" y="1943735"/>
            <a:ext cx="243205" cy="338455"/>
          </a:xfrm>
          <a:prstGeom prst="upArrow">
            <a:avLst/>
          </a:prstGeom>
          <a:solidFill>
            <a:schemeClr val="accent6"/>
          </a:solidFill>
          <a:ln w="28575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50" y="1817370"/>
            <a:ext cx="4290695" cy="419798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9551035" y="1906905"/>
            <a:ext cx="2035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增加</a:t>
            </a:r>
            <a:r>
              <a:rPr lang="en-US" altLang="zh-CN">
                <a:sym typeface="+mn-ea"/>
              </a:rPr>
              <a:t>cpp</a:t>
            </a:r>
            <a:r>
              <a:rPr lang="zh-CN" altLang="en-US">
                <a:sym typeface="+mn-ea"/>
              </a:rPr>
              <a:t>支持</a:t>
            </a:r>
            <a:endParaRPr lang="zh-CN" altLang="en-US">
              <a:sym typeface="+mn-ea"/>
            </a:endParaRPr>
          </a:p>
        </p:txBody>
      </p:sp>
      <p:sp>
        <p:nvSpPr>
          <p:cNvPr id="25" name="上箭头 24"/>
          <p:cNvSpPr/>
          <p:nvPr/>
        </p:nvSpPr>
        <p:spPr>
          <a:xfrm rot="5400000">
            <a:off x="9260205" y="4096385"/>
            <a:ext cx="243205" cy="338455"/>
          </a:xfrm>
          <a:prstGeom prst="upArrow">
            <a:avLst/>
          </a:prstGeom>
          <a:solidFill>
            <a:schemeClr val="accent6"/>
          </a:solidFill>
          <a:ln w="28575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551670" y="3942715"/>
            <a:ext cx="24809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让</a:t>
            </a:r>
            <a:r>
              <a:rPr lang="en-US" altLang="zh-CN">
                <a:sym typeface="+mn-ea"/>
              </a:rPr>
              <a:t>UserCode</a:t>
            </a:r>
            <a:r>
              <a:rPr lang="zh-CN" altLang="en-US">
                <a:sym typeface="+mn-ea"/>
              </a:rPr>
              <a:t>中的文件可以被编译器</a:t>
            </a:r>
            <a:r>
              <a:rPr lang="zh-CN" altLang="en-US">
                <a:sym typeface="+mn-ea"/>
              </a:rPr>
              <a:t>找到</a:t>
            </a:r>
            <a:endParaRPr lang="zh-CN" altLang="en-US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8" name="墨迹 37"/>
              <p14:cNvContentPartPr/>
              <p14:nvPr/>
            </p14:nvContentPartPr>
            <p14:xfrm>
              <a:off x="5178425" y="3358515"/>
              <a:ext cx="5080" cy="63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5"/>
            </p:blipFill>
            <p:spPr>
              <a:xfrm>
                <a:off x="5178425" y="3358515"/>
                <a:ext cx="5080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4563745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战队工作流与创建</a:t>
            </a:r>
            <a:r>
              <a:rPr lang="zh-CN" altLang="en-US" sz="1800"/>
              <a:t>任务</a:t>
            </a:r>
            <a:endParaRPr lang="zh-CN" altLang="en-US" sz="1800"/>
          </a:p>
        </p:txBody>
      </p:sp>
      <p:sp>
        <p:nvSpPr>
          <p:cNvPr id="17" name="文本框 16"/>
          <p:cNvSpPr txBox="1"/>
          <p:nvPr/>
        </p:nvSpPr>
        <p:spPr>
          <a:xfrm>
            <a:off x="936625" y="14490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、</a:t>
            </a:r>
            <a:r>
              <a:rPr lang="en-US" altLang="zh-CN" b="1">
                <a:sym typeface="+mn-ea"/>
              </a:rPr>
              <a:t>VSCode</a:t>
            </a:r>
            <a:r>
              <a:rPr lang="zh-CN" altLang="en-US" b="1">
                <a:sym typeface="+mn-ea"/>
              </a:rPr>
              <a:t>中其他任务的</a:t>
            </a:r>
            <a:r>
              <a:rPr lang="zh-CN" altLang="en-US" b="1">
                <a:sym typeface="+mn-ea"/>
              </a:rPr>
              <a:t>创建</a:t>
            </a:r>
            <a:endParaRPr lang="zh-CN" altLang="en-US" b="1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52360" y="1984375"/>
            <a:ext cx="44024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FreeRTOS</a:t>
            </a:r>
            <a:r>
              <a:rPr lang="zh-CN" altLang="en-US">
                <a:sym typeface="+mn-ea"/>
              </a:rPr>
              <a:t>后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不允许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CubeMX</a:t>
            </a:r>
            <a:r>
              <a:rPr lang="zh-CN" altLang="en-US">
                <a:sym typeface="+mn-ea"/>
              </a:rPr>
              <a:t>生成的代码目录中写代码，所有通过</a:t>
            </a:r>
            <a:r>
              <a:rPr lang="en-US" altLang="zh-CN">
                <a:sym typeface="+mn-ea"/>
              </a:rPr>
              <a:t>VsCode</a:t>
            </a:r>
            <a:r>
              <a:rPr lang="zh-CN" altLang="en-US">
                <a:sym typeface="+mn-ea"/>
              </a:rPr>
              <a:t>编辑的代码必须写在</a:t>
            </a:r>
            <a:r>
              <a:rPr lang="en-US" altLang="zh-CN">
                <a:sym typeface="+mn-ea"/>
              </a:rPr>
              <a:t>UserCode</a:t>
            </a:r>
            <a:r>
              <a:rPr lang="zh-CN" altLang="en-US">
                <a:sym typeface="+mn-ea"/>
              </a:rPr>
              <a:t>中。</a:t>
            </a:r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52360" y="3147695"/>
            <a:ext cx="433197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为了更好的在后面更好的接触驱动库，建议大家都用</a:t>
            </a:r>
            <a:r>
              <a:rPr lang="en-US" altLang="zh-CN">
                <a:sym typeface="+mn-ea"/>
              </a:rPr>
              <a:t>cpp</a:t>
            </a:r>
            <a:r>
              <a:rPr lang="zh-CN" altLang="en-US">
                <a:sym typeface="+mn-ea"/>
              </a:rPr>
              <a:t>写。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需要在</a:t>
            </a:r>
            <a:r>
              <a:rPr lang="en-US" altLang="zh-CN">
                <a:sym typeface="+mn-ea"/>
              </a:rPr>
              <a:t>UseCode</a:t>
            </a:r>
            <a:r>
              <a:rPr lang="zh-CN" altLang="en-US">
                <a:sym typeface="+mn-ea"/>
              </a:rPr>
              <a:t>中实现</a:t>
            </a:r>
            <a:r>
              <a:rPr lang="en-US" altLang="zh-CN">
                <a:sym typeface="+mn-ea"/>
              </a:rPr>
              <a:t>init</a:t>
            </a:r>
            <a:r>
              <a:rPr lang="zh-CN" altLang="en-US">
                <a:sym typeface="+mn-ea"/>
              </a:rPr>
              <a:t>函数，可以将此函数当做</a:t>
            </a:r>
            <a:r>
              <a:rPr lang="en-US" altLang="zh-CN">
                <a:sym typeface="+mn-ea"/>
              </a:rPr>
              <a:t>begin2</a:t>
            </a:r>
            <a:r>
              <a:rPr lang="zh-CN" altLang="en-US">
                <a:sym typeface="+mn-ea"/>
              </a:rPr>
              <a:t>部分。</a:t>
            </a:r>
            <a:endParaRPr lang="zh-CN" altLang="en-US"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5" y="1923415"/>
            <a:ext cx="6765925" cy="39255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518541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注意</a:t>
            </a:r>
            <a:r>
              <a:rPr lang="zh-CN" altLang="en-US" sz="1800"/>
              <a:t>事项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07820"/>
            <a:ext cx="88722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、任务函数的声明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如果文件声明为</a:t>
            </a:r>
            <a:r>
              <a:rPr lang="en-US" altLang="zh-CN">
                <a:sym typeface="+mn-ea"/>
              </a:rPr>
              <a:t>.cpp</a:t>
            </a:r>
            <a:r>
              <a:rPr lang="zh-CN" altLang="en-US">
                <a:sym typeface="+mn-ea"/>
              </a:rPr>
              <a:t>，需要显式的把函数声明为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才能传入</a:t>
            </a:r>
            <a:r>
              <a:rPr lang="en-US" altLang="zh-CN">
                <a:sym typeface="+mn-ea"/>
              </a:rPr>
              <a:t>CMSIS</a:t>
            </a:r>
            <a:r>
              <a:rPr lang="zh-CN" altLang="en-US">
                <a:sym typeface="+mn-ea"/>
              </a:rPr>
              <a:t>创建任务的</a:t>
            </a:r>
            <a:r>
              <a:rPr lang="zh-CN" altLang="en-US">
                <a:sym typeface="+mn-ea"/>
              </a:rPr>
              <a:t>函数。</a:t>
            </a:r>
            <a:endParaRPr lang="zh-CN" altLang="en-US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85" y="2312670"/>
            <a:ext cx="3302000" cy="9906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35305" y="3413760"/>
            <a:ext cx="11531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、任务函数需要是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死循环</a:t>
            </a:r>
            <a:r>
              <a:rPr lang="zh-CN" altLang="en-US">
                <a:sym typeface="+mn-ea"/>
              </a:rPr>
              <a:t>或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显式退出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  <a:sym typeface="+mn-ea"/>
              </a:rPr>
              <a:t>如果不在函数中加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死循环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或函数结尾调用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osThreadExit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，函数执行完后会跳转到非法地址，造成硬件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错误。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85" y="4169410"/>
            <a:ext cx="5022850" cy="24447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518541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注意</a:t>
            </a:r>
            <a:r>
              <a:rPr lang="zh-CN" altLang="en-US" sz="1800"/>
              <a:t>事项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07820"/>
            <a:ext cx="100031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、函数栈空间要给合适大小，默认情况创建任务时如果选择</a:t>
            </a:r>
            <a:r>
              <a:rPr lang="en-US" altLang="zh-CN">
                <a:sym typeface="+mn-ea"/>
              </a:rPr>
              <a:t>NULL</a:t>
            </a:r>
            <a:r>
              <a:rPr lang="zh-CN" altLang="en-US">
                <a:sym typeface="+mn-ea"/>
              </a:rPr>
              <a:t>会分配默认</a:t>
            </a:r>
            <a:r>
              <a:rPr lang="en-US" altLang="zh-CN">
                <a:sym typeface="+mn-ea"/>
              </a:rPr>
              <a:t>512</a:t>
            </a:r>
            <a:r>
              <a:rPr lang="zh-CN" altLang="en-US">
                <a:sym typeface="+mn-ea"/>
              </a:rPr>
              <a:t>字节的</a:t>
            </a:r>
            <a:r>
              <a:rPr lang="zh-CN" altLang="en-US">
                <a:sym typeface="+mn-ea"/>
              </a:rPr>
              <a:t>大小</a:t>
            </a:r>
            <a:endParaRPr lang="zh-CN" altLang="en-US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5" y="2240915"/>
            <a:ext cx="3302000" cy="9906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68960" y="3429000"/>
            <a:ext cx="82962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、延时函数的选择与中断中函数的使用</a:t>
            </a:r>
            <a:r>
              <a:rPr lang="en-US" altLang="zh-CN">
                <a:sym typeface="+mn-ea"/>
              </a:rPr>
              <a:t>	</a:t>
            </a:r>
            <a:endParaRPr lang="en-US" altLang="zh-CN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）使用</a:t>
            </a:r>
            <a:r>
              <a:rPr lang="en-US" altLang="zh-CN">
                <a:sym typeface="+mn-ea"/>
              </a:rPr>
              <a:t>osDelay</a:t>
            </a:r>
            <a:r>
              <a:rPr lang="zh-CN" altLang="en-US">
                <a:sym typeface="+mn-ea"/>
              </a:rPr>
              <a:t>替代</a:t>
            </a:r>
            <a:r>
              <a:rPr lang="en-US" altLang="zh-CN">
                <a:sym typeface="+mn-ea"/>
              </a:rPr>
              <a:t>HAL_Delay</a:t>
            </a:r>
            <a:endParaRPr lang="en-US" altLang="zh-CN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）在任何中断回调函数中要谨慎使用</a:t>
            </a:r>
            <a:r>
              <a:rPr lang="en-US" altLang="zh-CN">
                <a:sym typeface="+mn-ea"/>
              </a:rPr>
              <a:t>os</a:t>
            </a:r>
            <a:r>
              <a:rPr lang="zh-CN" altLang="en-US">
                <a:sym typeface="+mn-ea"/>
              </a:rPr>
              <a:t>函数，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大部分不能</a:t>
            </a:r>
            <a:r>
              <a:rPr lang="zh-CN" altLang="en-US">
                <a:sym typeface="+mn-ea"/>
              </a:rPr>
              <a:t>在中断中调用。</a:t>
            </a:r>
            <a:endParaRPr lang="zh-CN" altLang="en-US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4040" y="4751705"/>
            <a:ext cx="983170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CMSIS-RTOS2</a:t>
            </a:r>
            <a:r>
              <a:rPr lang="zh-CN" altLang="en-US">
                <a:sym typeface="+mn-ea"/>
              </a:rPr>
              <a:t>官网对很多函数的描述与实际实现的</a:t>
            </a:r>
            <a:r>
              <a:rPr lang="en-US" altLang="zh-CN">
                <a:sym typeface="+mn-ea"/>
              </a:rPr>
              <a:t>RTOS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有略微差别</a:t>
            </a:r>
            <a:r>
              <a:rPr lang="zh-CN" altLang="en-US">
                <a:sym typeface="+mn-ea"/>
              </a:rPr>
              <a:t>，使用函数时建议询问</a:t>
            </a:r>
            <a:r>
              <a:rPr lang="en-US" altLang="zh-CN">
                <a:sym typeface="+mn-ea"/>
              </a:rPr>
              <a:t>AI</a:t>
            </a:r>
            <a:endParaRPr lang="en-US" altLang="zh-CN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例如</a:t>
            </a:r>
            <a:r>
              <a:rPr lang="en-US" altLang="zh-CN">
                <a:sym typeface="+mn-ea"/>
              </a:rPr>
              <a:t>FreeRTOS</a:t>
            </a:r>
            <a:r>
              <a:rPr lang="zh-CN" altLang="en-US">
                <a:sym typeface="+mn-ea"/>
              </a:rPr>
              <a:t>实现的：消息队列的优先级实现时指定的优先级</a:t>
            </a:r>
            <a:r>
              <a:rPr lang="zh-CN" altLang="en-US">
                <a:sym typeface="+mn-ea"/>
              </a:rPr>
              <a:t>无用</a:t>
            </a:r>
            <a:endParaRPr lang="zh-CN" altLang="en-US">
              <a:sym typeface="+mn-ea"/>
            </a:endParaRPr>
          </a:p>
          <a:p>
            <a:pPr marL="2286000" lvl="5" indent="457200"/>
            <a:r>
              <a:rPr lang="zh-CN" altLang="en-US">
                <a:sym typeface="+mn-ea"/>
              </a:rPr>
              <a:t>事件标志实际上只有后</a:t>
            </a:r>
            <a:r>
              <a:rPr lang="en-US" altLang="zh-CN">
                <a:sym typeface="+mn-ea"/>
              </a:rPr>
              <a:t>24</a:t>
            </a:r>
            <a:r>
              <a:rPr lang="zh-CN" altLang="en-US">
                <a:sym typeface="+mn-ea"/>
              </a:rPr>
              <a:t>位可用，前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位表示</a:t>
            </a:r>
            <a:r>
              <a:rPr lang="zh-CN" altLang="en-US">
                <a:sym typeface="+mn-ea"/>
              </a:rPr>
              <a:t>状态</a:t>
            </a:r>
            <a:endParaRPr lang="zh-CN" altLang="en-US">
              <a:sym typeface="+mn-ea"/>
            </a:endParaRPr>
          </a:p>
          <a:p>
            <a:pPr marL="2286000" lvl="5" indent="457200"/>
            <a:r>
              <a:rPr lang="en-US" altLang="zh-CN">
                <a:sym typeface="+mn-ea"/>
              </a:rPr>
              <a:t>...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   </a:t>
            </a:r>
            <a:endParaRPr lang="en-US" altLang="zh-CN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08" name="墨迹 207"/>
              <p14:cNvContentPartPr/>
              <p14:nvPr/>
            </p14:nvContentPartPr>
            <p14:xfrm>
              <a:off x="5747385" y="4278630"/>
              <a:ext cx="33655" cy="23495"/>
            </p14:xfrm>
          </p:contentPart>
        </mc:Choice>
        <mc:Fallback xmlns="">
          <p:pic>
            <p:nvPicPr>
              <p:cNvPr id="208" name="墨迹 207"/>
            </p:nvPicPr>
            <p:blipFill>
              <a:blip r:embed="rId4"/>
            </p:blipFill>
            <p:spPr>
              <a:xfrm>
                <a:off x="5747385" y="4278630"/>
                <a:ext cx="33655" cy="2349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518541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注意</a:t>
            </a:r>
            <a:r>
              <a:rPr lang="zh-CN" altLang="en-US" sz="1800"/>
              <a:t>事项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07820"/>
            <a:ext cx="11513820" cy="791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数据一致性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  <a:sym typeface="+mn-ea"/>
              </a:rPr>
              <a:t>线程安全：在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STM32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上我们不可避免的会遇到多个线程访问同一个共享数据的问题，如果一个线程还未完全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	          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对共享资源更新完成，另一个线程就进行读取，会数据一半旧一半新的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问题。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06475" y="2626360"/>
            <a:ext cx="11513820" cy="791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HAL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库与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CMSIS-RTOS2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函数基本考虑到了线程安全，可以把数据完整地从缓冲区取出或拷入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	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/>
            <a:r>
              <a:rPr lang="en-US" altLang="zh-CN">
                <a:solidFill>
                  <a:schemeClr val="tx1"/>
                </a:solidFill>
                <a:sym typeface="+mn-ea"/>
              </a:rPr>
              <a:t>       HAL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库大部分函数没有考虑线程安全，需要在多线程设计时额外考虑数据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一致性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1717040" y="4342130"/>
            <a:ext cx="314325" cy="167005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682240" y="3922395"/>
            <a:ext cx="66916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线程</a:t>
            </a:r>
            <a:r>
              <a:rPr lang="en-US" altLang="zh-CN">
                <a:sym typeface="+mn-ea"/>
              </a:rPr>
              <a:t>A			</a:t>
            </a:r>
            <a:r>
              <a:rPr lang="zh-CN" altLang="en-US">
                <a:sym typeface="+mn-ea"/>
              </a:rPr>
              <a:t>线程</a:t>
            </a:r>
            <a:r>
              <a:rPr lang="en-US" altLang="zh-CN">
                <a:sym typeface="+mn-ea"/>
              </a:rPr>
              <a:t>B			</a:t>
            </a:r>
            <a:r>
              <a:rPr lang="zh-CN" altLang="en-US">
                <a:sym typeface="+mn-ea"/>
              </a:rPr>
              <a:t>线程</a:t>
            </a:r>
            <a:r>
              <a:rPr lang="en-US" altLang="zh-CN">
                <a:sym typeface="+mn-ea"/>
              </a:rPr>
              <a:t>C</a:t>
            </a:r>
            <a:endParaRPr lang="en-US" altLang="zh-CN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1870" y="4603115"/>
            <a:ext cx="756158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从队列中把数据放入缓冲区</a:t>
            </a:r>
            <a:r>
              <a:rPr lang="en-US" altLang="zh-CN">
                <a:sym typeface="+mn-ea"/>
              </a:rPr>
              <a:t>           -----          		        --------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------                     </a:t>
            </a:r>
            <a:r>
              <a:rPr lang="zh-CN" altLang="en-US">
                <a:sym typeface="+mn-ea"/>
              </a:rPr>
              <a:t>从队列中把数据放入缓冲区</a:t>
            </a:r>
            <a:r>
              <a:rPr lang="en-US" altLang="zh-CN">
                <a:sym typeface="+mn-ea"/>
              </a:rPr>
              <a:t>                       --------</a:t>
            </a:r>
            <a:endParaRPr lang="en-US" altLang="zh-CN">
              <a:sym typeface="+mn-ea"/>
            </a:endParaRPr>
          </a:p>
          <a:p>
            <a:pPr indent="457200"/>
            <a:endParaRPr lang="en-US" altLang="zh-CN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------			       ----------                              </a:t>
            </a:r>
            <a:r>
              <a:rPr lang="zh-CN" altLang="en-US">
                <a:sym typeface="+mn-ea"/>
              </a:rPr>
              <a:t>读取到线程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数据</a:t>
            </a:r>
            <a:endParaRPr lang="en-US" altLang="zh-CN">
              <a:sym typeface="+mn-ea"/>
            </a:endParaRPr>
          </a:p>
          <a:p>
            <a:pPr indent="457200"/>
            <a:endParaRPr lang="en-US" altLang="zh-CN">
              <a:sym typeface="+mn-ea"/>
            </a:endParaRPr>
          </a:p>
          <a:p>
            <a:pPr marL="1371600" lvl="3" indent="457200"/>
            <a:r>
              <a:rPr lang="en-US" altLang="zh-CN">
                <a:solidFill>
                  <a:srgbClr val="FF0000"/>
                </a:solidFill>
                <a:sym typeface="+mn-ea"/>
              </a:rPr>
              <a:t>result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：丢失了线程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的数据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zh-CN" altLang="en-US" b="1">
              <a:solidFill>
                <a:schemeClr val="lt1"/>
              </a:solidFill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29410" y="3339465"/>
            <a:ext cx="7919085" cy="334454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227830" y="34182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情况一：多线程竞争同一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资源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29" name="墨迹 128"/>
              <p14:cNvContentPartPr/>
              <p14:nvPr/>
            </p14:nvContentPartPr>
            <p14:xfrm>
              <a:off x="8568055" y="294640"/>
              <a:ext cx="635" cy="635"/>
            </p14:xfrm>
          </p:contentPart>
        </mc:Choice>
        <mc:Fallback xmlns="">
          <p:pic>
            <p:nvPicPr>
              <p:cNvPr id="129" name="墨迹 128"/>
            </p:nvPicPr>
            <p:blipFill>
              <a:blip r:embed="rId3"/>
            </p:blipFill>
            <p:spPr>
              <a:xfrm>
                <a:off x="8568055" y="29464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518541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注意</a:t>
            </a:r>
            <a:r>
              <a:rPr lang="zh-CN" altLang="en-US" sz="1800"/>
              <a:t>事项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07820"/>
            <a:ext cx="11513820" cy="40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数据一致性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991090" y="4474210"/>
            <a:ext cx="11513820" cy="791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线程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继续读取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B4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17" name="表格 16"/>
          <p:cNvGraphicFramePr/>
          <p:nvPr>
            <p:custDataLst>
              <p:tags r:id="rId2"/>
            </p:custDataLst>
          </p:nvPr>
        </p:nvGraphicFramePr>
        <p:xfrm>
          <a:off x="1969135" y="3252470"/>
          <a:ext cx="1221105" cy="319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105"/>
              </a:tblGrid>
              <a:tr h="6394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旧数据A1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94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旧数据A2</a:t>
                      </a:r>
                      <a:endParaRPr lang="zh-CN" altLang="en-US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94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旧数据A3</a:t>
                      </a:r>
                      <a:endParaRPr lang="zh-CN" altLang="en-US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94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旧数据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A4</a:t>
                      </a:r>
                      <a:endParaRPr lang="en-US" altLang="zh-CN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944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旧数据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A5</a:t>
                      </a:r>
                      <a:endParaRPr lang="en-US" altLang="zh-CN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圆角右箭头 22"/>
          <p:cNvSpPr/>
          <p:nvPr/>
        </p:nvSpPr>
        <p:spPr>
          <a:xfrm rot="10800000" flipH="1">
            <a:off x="1093470" y="4331335"/>
            <a:ext cx="720090" cy="700405"/>
          </a:xfrm>
          <a:prstGeom prst="ben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20675" y="38925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线程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读取到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A3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172335" y="2828925"/>
            <a:ext cx="1017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Buffer1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3"/>
            </p:custDataLst>
          </p:nvPr>
        </p:nvGraphicFramePr>
        <p:xfrm>
          <a:off x="5064125" y="3252470"/>
          <a:ext cx="1211580" cy="316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</a:tblGrid>
              <a:tr h="6413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新数据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1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055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新数据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B</a:t>
                      </a: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2</a:t>
                      </a:r>
                      <a:endParaRPr lang="zh-CN" altLang="en-US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11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新数据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B</a:t>
                      </a: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3</a:t>
                      </a:r>
                      <a:endParaRPr lang="zh-CN" altLang="en-US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11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新数据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B4</a:t>
                      </a:r>
                      <a:endParaRPr lang="en-US" altLang="zh-CN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11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新数据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B5</a:t>
                      </a:r>
                      <a:endParaRPr lang="en-US" altLang="zh-CN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" name="右箭头 30"/>
          <p:cNvSpPr/>
          <p:nvPr/>
        </p:nvSpPr>
        <p:spPr>
          <a:xfrm>
            <a:off x="3666490" y="4474210"/>
            <a:ext cx="1102995" cy="41529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666490" y="3935095"/>
            <a:ext cx="11036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突发中断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右箭头 32"/>
          <p:cNvSpPr/>
          <p:nvPr/>
        </p:nvSpPr>
        <p:spPr>
          <a:xfrm>
            <a:off x="6948170" y="4474210"/>
            <a:ext cx="1102995" cy="41529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948170" y="38925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恢复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读写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35" name="表格 34"/>
          <p:cNvGraphicFramePr/>
          <p:nvPr>
            <p:custDataLst>
              <p:tags r:id="rId4"/>
            </p:custDataLst>
          </p:nvPr>
        </p:nvGraphicFramePr>
        <p:xfrm>
          <a:off x="8441055" y="3283585"/>
          <a:ext cx="1211580" cy="316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</a:tblGrid>
              <a:tr h="6413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新数据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1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055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新数据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B</a:t>
                      </a: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2</a:t>
                      </a:r>
                      <a:endParaRPr lang="zh-CN" altLang="en-US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11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新数据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B</a:t>
                      </a: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3</a:t>
                      </a:r>
                      <a:endParaRPr lang="zh-CN" altLang="en-US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11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新数据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B4</a:t>
                      </a:r>
                      <a:endParaRPr lang="en-US" altLang="zh-CN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311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lt1"/>
                          </a:solidFill>
                        </a:rPr>
                        <a:t>新数据</a:t>
                      </a:r>
                      <a:r>
                        <a:rPr lang="en-US" altLang="zh-CN" b="1">
                          <a:solidFill>
                            <a:schemeClr val="lt1"/>
                          </a:solidFill>
                        </a:rPr>
                        <a:t>B5</a:t>
                      </a:r>
                      <a:endParaRPr lang="en-US" altLang="zh-CN" b="1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6" name="圆角右箭头 35"/>
          <p:cNvSpPr/>
          <p:nvPr/>
        </p:nvSpPr>
        <p:spPr>
          <a:xfrm rot="10800000">
            <a:off x="9874885" y="4889500"/>
            <a:ext cx="643890" cy="700405"/>
          </a:xfrm>
          <a:prstGeom prst="ben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273675" y="2828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Buffer1</a:t>
            </a:r>
            <a:endParaRPr lang="en-US" altLang="zh-CN"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688070" y="2828925"/>
            <a:ext cx="11868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Buffer1</a:t>
            </a:r>
            <a:endParaRPr lang="en-US" altLang="zh-CN">
              <a:sym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4300" y="2200910"/>
            <a:ext cx="11920855" cy="445071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227830" y="23514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情况二：中断导致的同一数据不连续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518541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注意</a:t>
            </a:r>
            <a:r>
              <a:rPr lang="zh-CN" altLang="en-US" sz="1800"/>
              <a:t>事项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07820"/>
            <a:ext cx="11513820" cy="40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数据一致性的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Resolution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4040" y="2013585"/>
            <a:ext cx="101593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R1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、原子量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atomic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std::atomic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是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C++11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引入的模板类，用来让对单个变量的读写操作变成不可分割的原子操作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  <a:sym typeface="+mn-ea"/>
              </a:rPr>
              <a:t>执行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counter++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操作在普通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int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上为：读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写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三步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25" y="3319145"/>
            <a:ext cx="6755130" cy="303847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143875" y="3549650"/>
            <a:ext cx="3557270" cy="2149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atomic</a:t>
            </a:r>
            <a:r>
              <a:rPr lang="zh-CN" altLang="en-US">
                <a:sym typeface="+mn-ea"/>
              </a:rPr>
              <a:t>可以保证单个变量的一次操作的完整性</a:t>
            </a:r>
            <a:endParaRPr lang="zh-CN" altLang="en-US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34390" y="2806065"/>
            <a:ext cx="7155815" cy="363664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82" name="墨迹 81"/>
              <p14:cNvContentPartPr/>
              <p14:nvPr/>
            </p14:nvContentPartPr>
            <p14:xfrm>
              <a:off x="2609215" y="3578860"/>
              <a:ext cx="635" cy="635"/>
            </p14:xfrm>
          </p:contentPart>
        </mc:Choice>
        <mc:Fallback xmlns="">
          <p:pic>
            <p:nvPicPr>
              <p:cNvPr id="82" name="墨迹 81"/>
            </p:nvPicPr>
            <p:blipFill>
              <a:blip r:embed="rId4"/>
            </p:blipFill>
            <p:spPr>
              <a:xfrm>
                <a:off x="2609215" y="35788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4" name="墨迹 83"/>
              <p14:cNvContentPartPr/>
              <p14:nvPr/>
            </p14:nvContentPartPr>
            <p14:xfrm>
              <a:off x="2485390" y="3472815"/>
              <a:ext cx="635" cy="635"/>
            </p14:xfrm>
          </p:contentPart>
        </mc:Choice>
        <mc:Fallback xmlns="">
          <p:pic>
            <p:nvPicPr>
              <p:cNvPr id="84" name="墨迹 83"/>
            </p:nvPicPr>
            <p:blipFill>
              <a:blip r:embed="rId6"/>
            </p:blipFill>
            <p:spPr>
              <a:xfrm>
                <a:off x="2485390" y="347281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97" name="墨迹 96"/>
              <p14:cNvContentPartPr/>
              <p14:nvPr/>
            </p14:nvContentPartPr>
            <p14:xfrm>
              <a:off x="10516235" y="4411980"/>
              <a:ext cx="635" cy="5080"/>
            </p14:xfrm>
          </p:contentPart>
        </mc:Choice>
        <mc:Fallback xmlns="">
          <p:pic>
            <p:nvPicPr>
              <p:cNvPr id="97" name="墨迹 96"/>
            </p:nvPicPr>
            <p:blipFill>
              <a:blip r:embed="rId8"/>
            </p:blipFill>
            <p:spPr>
              <a:xfrm>
                <a:off x="10516235" y="4411980"/>
                <a:ext cx="635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23" name="墨迹 122"/>
              <p14:cNvContentPartPr/>
              <p14:nvPr/>
            </p14:nvContentPartPr>
            <p14:xfrm>
              <a:off x="11503025" y="4478020"/>
              <a:ext cx="635" cy="635"/>
            </p14:xfrm>
          </p:contentPart>
        </mc:Choice>
        <mc:Fallback xmlns="">
          <p:pic>
            <p:nvPicPr>
              <p:cNvPr id="123" name="墨迹 122"/>
            </p:nvPicPr>
            <p:blipFill>
              <a:blip r:embed="rId10"/>
            </p:blipFill>
            <p:spPr>
              <a:xfrm>
                <a:off x="11503025" y="447802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518541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注意</a:t>
            </a:r>
            <a:r>
              <a:rPr lang="zh-CN" altLang="en-US" sz="1800"/>
              <a:t>事项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07820"/>
            <a:ext cx="11513820" cy="40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数据一致性的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Resolution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4040" y="2013585"/>
            <a:ext cx="10159365" cy="1030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R2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临界区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CMSIS-RTOS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中有</a:t>
            </a:r>
            <a:r>
              <a:rPr lang="en-US" altLang="zh-CN">
                <a:sym typeface="+mn-ea"/>
              </a:rPr>
              <a:t>osKernelLock</a:t>
            </a:r>
            <a:r>
              <a:rPr lang="zh-CN" altLang="en-US">
                <a:sym typeface="+mn-ea"/>
              </a:rPr>
              <a:t>可以让内核停止调度，但是依然有被中断打断的风险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  <a:sym typeface="+mn-ea"/>
              </a:rPr>
              <a:t>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CMSIS-RTOS2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中没有让任务进入临界区的函数，可以接入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FreeRTOS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的原生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API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43875" y="3549650"/>
            <a:ext cx="3557270" cy="2149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87120" y="304355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taskENTER_CRITICAL();	//</a:t>
            </a:r>
            <a:r>
              <a:rPr lang="zh-CN" altLang="en-US"/>
              <a:t>临界区开始</a:t>
            </a:r>
            <a:endParaRPr lang="zh-CN" altLang="en-US"/>
          </a:p>
          <a:p>
            <a:r>
              <a:rPr lang="en-US" altLang="zh-CN"/>
              <a:t>todo;	//</a:t>
            </a:r>
            <a:r>
              <a:rPr lang="zh-CN" altLang="en-US"/>
              <a:t>要做的任务</a:t>
            </a:r>
            <a:endParaRPr lang="zh-CN" altLang="en-US"/>
          </a:p>
          <a:p>
            <a:r>
              <a:rPr lang="en-US" altLang="zh-CN"/>
              <a:t>taskEXIT_CRITICAL();	//</a:t>
            </a:r>
            <a:r>
              <a:rPr lang="zh-CN" altLang="en-US"/>
              <a:t>临界区结束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87120" y="3044190"/>
            <a:ext cx="4305935" cy="991870"/>
          </a:xfrm>
          <a:prstGeom prst="rect">
            <a:avLst/>
          </a:prstGeom>
          <a:noFill/>
          <a:ln w="28575" cmpd="sng">
            <a:solidFill>
              <a:srgbClr val="92D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87120" y="4356735"/>
            <a:ext cx="102736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基本原理：</a:t>
            </a:r>
            <a:r>
              <a:rPr lang="en-US" altLang="zh-CN">
                <a:sym typeface="+mn-ea"/>
              </a:rPr>
              <a:t>FreeRTOS</a:t>
            </a:r>
            <a:r>
              <a:rPr lang="zh-CN" altLang="en-US">
                <a:sym typeface="+mn-ea"/>
              </a:rPr>
              <a:t>通过操作</a:t>
            </a:r>
            <a:r>
              <a:rPr lang="en-US" altLang="zh-CN">
                <a:sym typeface="+mn-ea"/>
              </a:rPr>
              <a:t>BASEPRI</a:t>
            </a:r>
            <a:r>
              <a:rPr lang="zh-CN" altLang="en-US">
                <a:sym typeface="+mn-ea"/>
              </a:rPr>
              <a:t>寄存器来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有选择屏蔽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一部分中断，所有优先级大于或等于该阈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		  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值的中断都会被屏蔽，此时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NVIC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会把被屏蔽的硬件中断请求挂起，退出临界区后会去执行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	  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硬件中断服务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程序。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" y="5513070"/>
            <a:ext cx="4248150" cy="10287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065" y="5513070"/>
            <a:ext cx="5360670" cy="9296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2" name="墨迹 31"/>
              <p14:cNvContentPartPr/>
              <p14:nvPr/>
            </p14:nvContentPartPr>
            <p14:xfrm>
              <a:off x="5967730" y="2701925"/>
              <a:ext cx="635" cy="508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"/>
            </p:blipFill>
            <p:spPr>
              <a:xfrm>
                <a:off x="5967730" y="2701925"/>
                <a:ext cx="635" cy="50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518541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注意</a:t>
            </a:r>
            <a:r>
              <a:rPr lang="zh-CN" altLang="en-US" sz="1800"/>
              <a:t>事项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07820"/>
            <a:ext cx="11513820" cy="40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数据一致性的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Resolution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4040" y="2013585"/>
            <a:ext cx="10159365" cy="1030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R2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临界区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CMSIS-RTOS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中有</a:t>
            </a:r>
            <a:r>
              <a:rPr lang="en-US" altLang="zh-CN">
                <a:sym typeface="+mn-ea"/>
              </a:rPr>
              <a:t>osKernelLock</a:t>
            </a:r>
            <a:r>
              <a:rPr lang="zh-CN" altLang="en-US">
                <a:sym typeface="+mn-ea"/>
              </a:rPr>
              <a:t>可以让内核停止调度，但是依然有被中断打断的风险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  <a:sym typeface="+mn-ea"/>
              </a:rPr>
              <a:t>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CMSIS-RTOS2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中没有让任务进入临界区的函数，可以接入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FreeRTOS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的原生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API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43875" y="3549650"/>
            <a:ext cx="3557270" cy="2149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74510" y="117919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taskENTER_CRITICAL();	//</a:t>
            </a:r>
            <a:r>
              <a:rPr lang="zh-CN" altLang="en-US"/>
              <a:t>临界区开始</a:t>
            </a:r>
            <a:endParaRPr lang="zh-CN" altLang="en-US"/>
          </a:p>
          <a:p>
            <a:r>
              <a:rPr lang="en-US" altLang="zh-CN"/>
              <a:t>todo;	//</a:t>
            </a:r>
            <a:r>
              <a:rPr lang="zh-CN" altLang="en-US"/>
              <a:t>要做的任务</a:t>
            </a:r>
            <a:endParaRPr lang="zh-CN" altLang="en-US"/>
          </a:p>
          <a:p>
            <a:r>
              <a:rPr lang="en-US" altLang="zh-CN"/>
              <a:t>taskEXIT_CRITICAL();	//</a:t>
            </a:r>
            <a:r>
              <a:rPr lang="zh-CN" altLang="en-US"/>
              <a:t>临界区结束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874510" y="1179830"/>
            <a:ext cx="4305935" cy="991870"/>
          </a:xfrm>
          <a:prstGeom prst="rect">
            <a:avLst/>
          </a:prstGeom>
          <a:noFill/>
          <a:ln w="28575" cmpd="sng">
            <a:solidFill>
              <a:srgbClr val="92D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0" y="3037205"/>
            <a:ext cx="5713095" cy="375221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510" y="3037205"/>
            <a:ext cx="4250690" cy="3759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5" name="墨迹 24"/>
              <p14:cNvContentPartPr/>
              <p14:nvPr/>
            </p14:nvContentPartPr>
            <p14:xfrm>
              <a:off x="4345305" y="5661660"/>
              <a:ext cx="14605" cy="698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5"/>
            </p:blipFill>
            <p:spPr>
              <a:xfrm>
                <a:off x="4345305" y="5661660"/>
                <a:ext cx="14605" cy="6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6" name="墨迹 25"/>
              <p14:cNvContentPartPr/>
              <p14:nvPr/>
            </p14:nvContentPartPr>
            <p14:xfrm>
              <a:off x="4345305" y="5668010"/>
              <a:ext cx="635" cy="63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7"/>
            </p:blipFill>
            <p:spPr>
              <a:xfrm>
                <a:off x="4345305" y="566801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7" name="墨迹 26"/>
              <p14:cNvContentPartPr/>
              <p14:nvPr/>
            </p14:nvContentPartPr>
            <p14:xfrm>
              <a:off x="4324985" y="5667375"/>
              <a:ext cx="251460" cy="4889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9"/>
            </p:blipFill>
            <p:spPr>
              <a:xfrm>
                <a:off x="4324985" y="5667375"/>
                <a:ext cx="251460" cy="4889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830" y="170180"/>
            <a:ext cx="10525125" cy="1325880"/>
          </a:xfrm>
        </p:spPr>
        <p:txBody>
          <a:bodyPr/>
          <a:p>
            <a:r>
              <a:rPr lang="en-US" altLang="zh-CN" sz="4000"/>
              <a:t>CMSIS-</a:t>
            </a:r>
            <a:r>
              <a:rPr lang="en-US" altLang="zh-CN" sz="4000"/>
              <a:t>RTOS2</a:t>
            </a:r>
            <a:endParaRPr lang="en-US" altLang="zh-CN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518541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/>
              <a:t>注意</a:t>
            </a:r>
            <a:r>
              <a:rPr lang="zh-CN" altLang="en-US" sz="1800"/>
              <a:t>事项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35305" y="1607820"/>
            <a:ext cx="11513820" cy="40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数据一致性的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Resolution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4040" y="2013585"/>
            <a:ext cx="10159365" cy="1030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R2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临界区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  <a:sym typeface="+mn-ea"/>
              </a:rPr>
              <a:t>临界区中的注意点：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/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、不能放任何的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RTOS API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（可能会触发系统死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锁）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/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、耗时操作（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Delay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，阻塞式串口发送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......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/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43875" y="3549650"/>
            <a:ext cx="3557270" cy="2149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74510" y="117919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taskENTER_CRITICAL();	//</a:t>
            </a:r>
            <a:r>
              <a:rPr lang="zh-CN" altLang="en-US"/>
              <a:t>临界区开始</a:t>
            </a:r>
            <a:endParaRPr lang="zh-CN" altLang="en-US"/>
          </a:p>
          <a:p>
            <a:r>
              <a:rPr lang="en-US" altLang="zh-CN"/>
              <a:t>todo;	//</a:t>
            </a:r>
            <a:r>
              <a:rPr lang="zh-CN" altLang="en-US"/>
              <a:t>要做的任务</a:t>
            </a:r>
            <a:endParaRPr lang="zh-CN" altLang="en-US"/>
          </a:p>
          <a:p>
            <a:r>
              <a:rPr lang="en-US" altLang="zh-CN"/>
              <a:t>taskEXIT_CRITICAL();	//</a:t>
            </a:r>
            <a:r>
              <a:rPr lang="zh-CN" altLang="en-US"/>
              <a:t>临界区结束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874510" y="1179830"/>
            <a:ext cx="4305935" cy="991870"/>
          </a:xfrm>
          <a:prstGeom prst="rect">
            <a:avLst/>
          </a:prstGeom>
          <a:noFill/>
          <a:ln w="28575" cmpd="sng">
            <a:solidFill>
              <a:srgbClr val="92D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3561715"/>
            <a:ext cx="4904105" cy="315341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74040" y="31953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 6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debug</a:t>
            </a:r>
            <a:r>
              <a:rPr lang="zh-CN" altLang="en-US">
                <a:sym typeface="+mn-ea"/>
              </a:rPr>
              <a:t>配置</a:t>
            </a:r>
            <a:endParaRPr lang="zh-CN" altLang="en-US"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53125" y="47453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新建调试工程的时候记得选的添加</a:t>
            </a:r>
            <a:r>
              <a:rPr lang="en-US" altLang="zh-CN">
                <a:sym typeface="+mn-ea"/>
              </a:rPr>
              <a:t>freertos</a:t>
            </a:r>
            <a:r>
              <a:rPr lang="zh-CN" altLang="en-US">
                <a:sym typeface="+mn-ea"/>
              </a:rPr>
              <a:t>插件</a:t>
            </a:r>
            <a:endParaRPr lang="zh-CN" altLang="en-US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32" name="墨迹 131"/>
              <p14:cNvContentPartPr/>
              <p14:nvPr/>
            </p14:nvContentPartPr>
            <p14:xfrm>
              <a:off x="7240905" y="3719830"/>
              <a:ext cx="5080" cy="635"/>
            </p14:xfrm>
          </p:contentPart>
        </mc:Choice>
        <mc:Fallback xmlns="">
          <p:pic>
            <p:nvPicPr>
              <p:cNvPr id="132" name="墨迹 131"/>
            </p:nvPicPr>
            <p:blipFill>
              <a:blip r:embed="rId4"/>
            </p:blipFill>
            <p:spPr>
              <a:xfrm>
                <a:off x="7240905" y="3719830"/>
                <a:ext cx="508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42" name="墨迹 141"/>
              <p14:cNvContentPartPr/>
              <p14:nvPr/>
            </p14:nvContentPartPr>
            <p14:xfrm>
              <a:off x="3684270" y="2794000"/>
              <a:ext cx="635" cy="635"/>
            </p14:xfrm>
          </p:contentPart>
        </mc:Choice>
        <mc:Fallback xmlns="">
          <p:pic>
            <p:nvPicPr>
              <p:cNvPr id="142" name="墨迹 141"/>
            </p:nvPicPr>
            <p:blipFill>
              <a:blip r:embed="rId6"/>
            </p:blipFill>
            <p:spPr>
              <a:xfrm>
                <a:off x="3684270" y="279400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43" name="墨迹 142"/>
              <p14:cNvContentPartPr/>
              <p14:nvPr/>
            </p14:nvContentPartPr>
            <p14:xfrm>
              <a:off x="3684270" y="2794000"/>
              <a:ext cx="635" cy="635"/>
            </p14:xfrm>
          </p:contentPart>
        </mc:Choice>
        <mc:Fallback xmlns="">
          <p:pic>
            <p:nvPicPr>
              <p:cNvPr id="143" name="墨迹 142"/>
            </p:nvPicPr>
            <p:blipFill>
              <a:blip r:embed="rId8"/>
            </p:blipFill>
            <p:spPr>
              <a:xfrm>
                <a:off x="3684270" y="279400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80" name="墨迹 179"/>
              <p14:cNvContentPartPr/>
              <p14:nvPr/>
            </p14:nvContentPartPr>
            <p14:xfrm>
              <a:off x="4570730" y="6399530"/>
              <a:ext cx="4445" cy="635"/>
            </p14:xfrm>
          </p:contentPart>
        </mc:Choice>
        <mc:Fallback xmlns="">
          <p:pic>
            <p:nvPicPr>
              <p:cNvPr id="180" name="墨迹 179"/>
            </p:nvPicPr>
            <p:blipFill>
              <a:blip r:embed="rId10"/>
            </p:blipFill>
            <p:spPr>
              <a:xfrm>
                <a:off x="4570730" y="6399530"/>
                <a:ext cx="444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81" name="墨迹 180"/>
              <p14:cNvContentPartPr/>
              <p14:nvPr/>
            </p14:nvContentPartPr>
            <p14:xfrm>
              <a:off x="4574540" y="6399530"/>
              <a:ext cx="635" cy="635"/>
            </p14:xfrm>
          </p:contentPart>
        </mc:Choice>
        <mc:Fallback xmlns="">
          <p:pic>
            <p:nvPicPr>
              <p:cNvPr id="181" name="墨迹 180"/>
            </p:nvPicPr>
            <p:blipFill>
              <a:blip r:embed="rId8"/>
            </p:blipFill>
            <p:spPr>
              <a:xfrm>
                <a:off x="4574540" y="639953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82" name="墨迹 181"/>
              <p14:cNvContentPartPr/>
              <p14:nvPr/>
            </p14:nvContentPartPr>
            <p14:xfrm>
              <a:off x="4627880" y="6403340"/>
              <a:ext cx="635" cy="5715"/>
            </p14:xfrm>
          </p:contentPart>
        </mc:Choice>
        <mc:Fallback xmlns="">
          <p:pic>
            <p:nvPicPr>
              <p:cNvPr id="182" name="墨迹 181"/>
            </p:nvPicPr>
            <p:blipFill>
              <a:blip r:embed="rId13"/>
            </p:blipFill>
            <p:spPr>
              <a:xfrm>
                <a:off x="4627880" y="6403340"/>
                <a:ext cx="635" cy="571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4095" y="170180"/>
            <a:ext cx="10525125" cy="1325880"/>
          </a:xfrm>
        </p:spPr>
        <p:txBody>
          <a:bodyPr/>
          <a:p>
            <a:r>
              <a:rPr lang="zh-CN" altLang="en-US" sz="4000"/>
              <a:t>作业</a:t>
            </a:r>
            <a:endParaRPr lang="zh-CN" altLang="en-US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/>
        </p:nvSpPr>
        <p:spPr>
          <a:xfrm>
            <a:off x="5279390" y="581025"/>
            <a:ext cx="105251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678180" y="3784600"/>
            <a:ext cx="11513820" cy="40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homwork1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成功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运行给出的代码，使用串口查看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counter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计算完输出结果，分析为什么会出现相应现象（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15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、修复给出的代码，得到正确的计算结果（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15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8180" y="1609090"/>
            <a:ext cx="11513820" cy="297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作业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要求：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、本作业需要使用前文提到的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WTR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工作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流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homework1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homework2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已经给出了代码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、所有工程使用同一个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ioc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文件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、作业提交格式为压缩包，压缩包命名格式为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姓名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_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学号，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  <a:sym typeface="+mn-ea"/>
              </a:rPr>
              <a:t>压缩包中需要包含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个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homework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文件夹，一个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ioc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文件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  <a:sym typeface="+mn-ea"/>
              </a:rPr>
              <a:t>每个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homework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文件夹需要放入相应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UserCode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中的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代码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5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、可以使用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但是建议自己弄懂底层原理，面试会问相关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细节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8180" y="4654550"/>
            <a:ext cx="11513820" cy="40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homwork2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、分别修改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WRITE_WAIT_US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的数值为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240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300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350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500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观察串口输出（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endParaRPr lang="zh-CN" altLang="en-US"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" y="5295265"/>
            <a:ext cx="4283075" cy="14890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307455" y="533082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在相应位置打断点运行，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结合断点的触发顺序解释串口输出现象变化的</a:t>
            </a:r>
            <a:r>
              <a:rPr lang="zh-CN" altLang="en-US">
                <a:sym typeface="+mn-ea"/>
              </a:rPr>
              <a:t>原因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20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00295" y="170180"/>
            <a:ext cx="10525125" cy="1325880"/>
          </a:xfrm>
        </p:spPr>
        <p:txBody>
          <a:bodyPr/>
          <a:p>
            <a:r>
              <a:rPr lang="zh-CN" altLang="en-US" sz="4000"/>
              <a:t>作业</a:t>
            </a:r>
            <a:endParaRPr lang="zh-CN" altLang="en-US" sz="4000"/>
          </a:p>
        </p:txBody>
      </p:sp>
      <p:grpSp>
        <p:nvGrpSpPr>
          <p:cNvPr id="4" name="组合 3"/>
          <p:cNvGrpSpPr/>
          <p:nvPr/>
        </p:nvGrpSpPr>
        <p:grpSpPr>
          <a:xfrm>
            <a:off x="163831" y="170234"/>
            <a:ext cx="2869324" cy="1173076"/>
            <a:chOff x="-47902" y="0"/>
            <a:chExt cx="2016224" cy="612528"/>
          </a:xfrm>
        </p:grpSpPr>
        <p:grpSp>
          <p:nvGrpSpPr>
            <p:cNvPr id="5" name="组合 4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-47902" y="214586"/>
              <a:ext cx="2016224" cy="176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cs typeface="+mn-ea"/>
                </a:rPr>
                <a:t>WTR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39" y="319699"/>
            <a:ext cx="3864384" cy="85875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8180" y="1737360"/>
            <a:ext cx="11513820" cy="40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homwork3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	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创建两个不同频率定时器回调模拟两个传感器，定时向各自的消息队列存放数据（随机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生成）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/>
            <a:r>
              <a:rPr lang="zh-CN" altLang="en-US">
                <a:solidFill>
                  <a:schemeClr val="tx1"/>
                </a:solidFill>
                <a:sym typeface="+mn-ea"/>
              </a:rPr>
              <a:t>数据格式为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类型（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字节）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+ float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类型数据（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字节）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时间戳（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字节）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	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创建数据处理任务，要求内部用状态机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实现对两个传感器数据的融合，若两个数据时间相差超过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500ms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/>
            <a:r>
              <a:rPr lang="zh-CN" altLang="en-US">
                <a:solidFill>
                  <a:schemeClr val="tx1"/>
                </a:solidFill>
                <a:sym typeface="+mn-ea"/>
              </a:rPr>
              <a:t>则丢弃时间较旧的数据，对两传感器的数据取均值滤波。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	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创建串口发送任务，要求用状态机实现，可以显示当前串口发送状态（等待数据，发送中，出现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错误）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	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使用按钮，使用按钮可以切换数据处理的状态，数据处理有两种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状态，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）原始态，串口需要把两个传感器的数据都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单独用串口发送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出来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）融合态，串口需要把融合后的数据用串口发送出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来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/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9.25,&quot;left&quot;:436.7,&quot;top&quot;:270,&quot;width&quot;:355.2}"/>
</p:tagLst>
</file>

<file path=ppt/tags/tag2.xml><?xml version="1.0" encoding="utf-8"?>
<p:tagLst xmlns:p="http://schemas.openxmlformats.org/presentationml/2006/main">
  <p:tag name="KSO_WM_DIAGRAM_VIRTUALLY_FRAME" val="{&quot;height&quot;:179.25,&quot;left&quot;:436.7,&quot;top&quot;:270,&quot;width&quot;:355.2}"/>
</p:tagLst>
</file>

<file path=ppt/tags/tag3.xml><?xml version="1.0" encoding="utf-8"?>
<p:tagLst xmlns:p="http://schemas.openxmlformats.org/presentationml/2006/main">
  <p:tag name="KSO_WM_DIAGRAM_VIRTUALLY_FRAME" val="{&quot;height&quot;:179.25,&quot;left&quot;:436.7,&quot;top&quot;:270,&quot;width&quot;:355.2}"/>
</p:tagLst>
</file>

<file path=ppt/tags/tag4.xml><?xml version="1.0" encoding="utf-8"?>
<p:tagLst xmlns:p="http://schemas.openxmlformats.org/presentationml/2006/main">
  <p:tag name="KSO_WM_DIAGRAM_VIRTUALLY_FRAME" val="{&quot;height&quot;:179.25,&quot;left&quot;:436.7,&quot;top&quot;:270,&quot;width&quot;:355.2}"/>
</p:tagLst>
</file>

<file path=ppt/tags/tag5.xml><?xml version="1.0" encoding="utf-8"?>
<p:tagLst xmlns:p="http://schemas.openxmlformats.org/presentationml/2006/main">
  <p:tag name="KSO_WM_DIAGRAM_VIRTUALLY_FRAME" val="{&quot;height&quot;:179.25,&quot;left&quot;:436.7,&quot;top&quot;:270,&quot;width&quot;:355.2}"/>
</p:tagLst>
</file>

<file path=ppt/tags/tag6.xml><?xml version="1.0" encoding="utf-8"?>
<p:tagLst xmlns:p="http://schemas.openxmlformats.org/presentationml/2006/main">
  <p:tag name="KSO_WM_DIAGRAM_VIRTUALLY_FRAME" val="{&quot;height&quot;:179.25,&quot;left&quot;:436.7,&quot;top&quot;:270,&quot;width&quot;:355.2}"/>
</p:tagLst>
</file>

<file path=ppt/tags/tag7.xml><?xml version="1.0" encoding="utf-8"?>
<p:tagLst xmlns:p="http://schemas.openxmlformats.org/presentationml/2006/main">
  <p:tag name="TABLE_ENDDRAG_ORIGIN_RECT" val="96*251"/>
  <p:tag name="TABLE_ENDDRAG_RECT" val="734*262*96*251"/>
</p:tagLst>
</file>

<file path=ppt/tags/tag8.xml><?xml version="1.0" encoding="utf-8"?>
<p:tagLst xmlns:p="http://schemas.openxmlformats.org/presentationml/2006/main">
  <p:tag name="TABLE_ENDDRAG_ORIGIN_RECT" val="95*249"/>
  <p:tag name="TABLE_ENDDRAG_RECT" val="346*233*95*249"/>
</p:tagLst>
</file>

<file path=ppt/tags/tag9.xml><?xml version="1.0" encoding="utf-8"?>
<p:tagLst xmlns:p="http://schemas.openxmlformats.org/presentationml/2006/main">
  <p:tag name="TABLE_ENDDRAG_ORIGIN_RECT" val="95*249"/>
  <p:tag name="TABLE_ENDDRAG_RECT" val="346*233*95*24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6927</Words>
  <Application>WPS 演示</Application>
  <PresentationFormat>宽屏</PresentationFormat>
  <Paragraphs>618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Calibri</vt:lpstr>
      <vt:lpstr>Arial Unicode MS</vt:lpstr>
      <vt:lpstr>Arial</vt:lpstr>
      <vt:lpstr>Lucida Console</vt:lpstr>
      <vt:lpstr>WPS</vt:lpstr>
      <vt:lpstr>从裸机到实时操作系统</vt:lpstr>
      <vt:lpstr>PowerPoint 演示文稿</vt:lpstr>
      <vt:lpstr>裸机</vt:lpstr>
      <vt:lpstr>裸机</vt:lpstr>
      <vt:lpstr>裸机</vt:lpstr>
      <vt:lpstr>裸机</vt:lpstr>
      <vt:lpstr>FreeRTOS</vt:lpstr>
      <vt:lpstr>RTOS</vt:lpstr>
      <vt:lpstr>FreeRTOS</vt:lpstr>
      <vt:lpstr>FreeRTOS</vt:lpstr>
      <vt:lpstr>FreeRTOS</vt:lpstr>
      <vt:lpstr>FreeRTOS</vt:lpstr>
      <vt:lpstr>FreeRTOS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CMSIS-RTOS2</vt:lpstr>
      <vt:lpstr>作业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39328</dc:creator>
  <cp:lastModifiedBy>司想</cp:lastModifiedBy>
  <cp:revision>41</cp:revision>
  <dcterms:created xsi:type="dcterms:W3CDTF">2023-08-09T12:44:00Z</dcterms:created>
  <dcterms:modified xsi:type="dcterms:W3CDTF">2026-09-28T15:01:55Z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49476C96521049A1BC57D69C03298F61_12</vt:lpwstr>
  </property>
</Properties>
</file>